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án bắt đầu từ yêu cầu của môn học, không bắt đầu từ công nghệ.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sản phẩm của đồ án là một mạng lưới thực thể đo được, chưa phải chatbot.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đóng góp là giữ nhiều nguồn trên một chủ thể, và không nhận câu không có trong nguồn. Chưa phải chatbot.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câu hỏi 5W1H trỏ tới một loại thực thể. Không nêu tổng số từ khóa, vì danh mục còn thay đổi.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051560"/>
            <a:ext cx="10789920" cy="365760"/>
          </a:xfrm>
          <a:prstGeom prst="rect">
            <a:avLst/>
          </a:prstGeom>
          <a:noFill/>
        </p:spPr>
        <p:txBody>
          <a:bodyPr wrap="square" lIns="0" rIns="0" tIns="0" bIns="0"/>
          <a:lstStyle/>
          <a:p>
            <a:r>
              <a:rPr sz="1600" b="0" i="0">
                <a:solidFill>
                  <a:srgbClr val="1F3864"/>
                </a:solidFill>
                <a:latin typeface="Arial"/>
                <a:ea typeface="Arial"/>
                <a:cs typeface="Arial"/>
              </a:rPr>
              <a:t>Trường Đại học FPT · Thesis Proposal</a:t>
            </a:r>
          </a:p>
        </p:txBody>
      </p:sp>
      <p:sp>
        <p:nvSpPr>
          <p:cNvPr id="4" name="TextBox 3"/>
          <p:cNvSpPr txBox="1"/>
          <p:nvPr/>
        </p:nvSpPr>
        <p:spPr>
          <a:xfrm>
            <a:off x="640080" y="1691640"/>
            <a:ext cx="10789920" cy="1554480"/>
          </a:xfrm>
          <a:prstGeom prst="rect">
            <a:avLst/>
          </a:prstGeom>
          <a:noFill/>
        </p:spPr>
        <p:txBody>
          <a:bodyPr wrap="square" lIns="0" rIns="0" tIns="0" bIns="0"/>
          <a:lstStyle/>
          <a:p>
            <a:r>
              <a:rPr sz="3000" b="1" i="0">
                <a:solidFill>
                  <a:srgbClr val="1F3864"/>
                </a:solidFill>
                <a:latin typeface="Arial"/>
                <a:ea typeface="Arial"/>
                <a:cs typeface="Arial"/>
              </a:rPr>
              <a:t>Triển khai hệ thống CSDL đồ thị tri thức và thiết kế pipeline trích xuất mạng lưới thực thể lịch sử 5W1H bằng LLM</a:t>
            </a:r>
          </a:p>
        </p:txBody>
      </p:sp>
      <p:sp>
        <p:nvSpPr>
          <p:cNvPr id="5" name="TextBox 4"/>
          <p:cNvSpPr txBox="1"/>
          <p:nvPr/>
        </p:nvSpPr>
        <p:spPr>
          <a:xfrm>
            <a:off x="640080" y="3383280"/>
            <a:ext cx="10789920" cy="960120"/>
          </a:xfrm>
          <a:prstGeom prst="rect">
            <a:avLst/>
          </a:prstGeom>
          <a:noFill/>
        </p:spPr>
        <p:txBody>
          <a:bodyPr wrap="square" lIns="0" rIns="0" tIns="0" bIns="0"/>
          <a:lstStyle/>
          <a:p>
            <a:r>
              <a:rPr sz="1600" b="0" i="1">
                <a:solidFill>
                  <a:srgbClr val="5B6470"/>
                </a:solidFill>
                <a:latin typeface="Arial"/>
                <a:ea typeface="Arial"/>
                <a:cs typeface="Arial"/>
              </a:rPr>
              <a:t>Implementing a Knowledge Graph Database System and Designing an LLM Pipeline to Extract a 5W1H Network of Historical Entities</a:t>
            </a:r>
          </a:p>
        </p:txBody>
      </p:sp>
      <p:sp>
        <p:nvSpPr>
          <p:cNvPr id="6" name="TextBox 5"/>
          <p:cNvSpPr txBox="1"/>
          <p:nvPr/>
        </p:nvSpPr>
        <p:spPr>
          <a:xfrm>
            <a:off x="640080" y="4709160"/>
            <a:ext cx="10789920" cy="1051560"/>
          </a:xfrm>
          <a:prstGeom prst="rect">
            <a:avLst/>
          </a:prstGeom>
          <a:noFill/>
        </p:spPr>
        <p:txBody>
          <a:bodyPr wrap="square" lIns="0" rIns="0" tIns="0" bIns="0"/>
          <a:lstStyle/>
          <a:p>
            <a:r>
              <a:rPr sz="1600" b="0" i="0">
                <a:solidFill>
                  <a:srgbClr val="1A1A1A"/>
                </a:solidFill>
                <a:latin typeface="Arial"/>
                <a:ea typeface="Arial"/>
                <a:cs typeface="Arial"/>
              </a:rPr>
              <a:t>Người thực hiện: Trần Việt Hoàng · MSSV 25MSA13219</a:t>
            </a:r>
          </a:p>
          <a:p>
            <a:pPr>
              <a:spcBef>
                <a:spcPts val="600"/>
              </a:spcBef>
            </a:pPr>
            <a:r>
              <a:rPr sz="1600" b="0" i="0">
                <a:solidFill>
                  <a:srgbClr val="1A1A1A"/>
                </a:solidFill>
                <a:latin typeface="Arial"/>
                <a:ea typeface="Arial"/>
                <a:cs typeface="Arial"/>
              </a:rPr>
              <a:t>Giảng viên hướng dẫn: TS Bùi Trung Hiếu</a:t>
            </a:r>
          </a:p>
        </p:txBody>
      </p:sp>
      <p:sp>
        <p:nvSpPr>
          <p:cNvPr id="7" name="TextBox 6"/>
          <p:cNvSpPr txBox="1"/>
          <p:nvPr/>
        </p:nvSpPr>
        <p:spPr>
          <a:xfrm>
            <a:off x="640080" y="5989320"/>
            <a:ext cx="10789920" cy="292608"/>
          </a:xfrm>
          <a:prstGeom prst="rect">
            <a:avLst/>
          </a:prstGeom>
          <a:noFill/>
        </p:spPr>
        <p:txBody>
          <a:bodyPr wrap="square" lIns="0" rIns="0" tIns="0" bIns="0"/>
          <a:lstStyle/>
          <a:p>
            <a:r>
              <a:rPr sz="1400" b="0" i="0">
                <a:solidFill>
                  <a:srgbClr val="5B6470"/>
                </a:solidFill>
                <a:latin typeface="Arial"/>
                <a:ea typeface="Arial"/>
                <a:cs typeface="Arial"/>
              </a:rPr>
              <a:t>Hà Nội, 2026</a:t>
            </a:r>
          </a:p>
        </p:txBody>
      </p:sp>
      <p:sp>
        <p:nvSpPr>
          <p:cNvPr id="8" name="TextBox 7"/>
          <p:cNvSpPr txBox="1"/>
          <p:nvPr/>
        </p:nvSpPr>
        <p:spPr>
          <a:xfrm>
            <a:off x="640080"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9" name="TextBox 8"/>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 /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A · Dự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Bối cảnh: môn Lịch sử đang đòi hỏi gì</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2 / 21</a:t>
            </a:r>
          </a:p>
        </p:txBody>
      </p:sp>
      <p:sp>
        <p:nvSpPr>
          <p:cNvPr id="7" name="TextBox 6"/>
          <p:cNvSpPr txBox="1"/>
          <p:nvPr/>
        </p:nvSpPr>
        <p:spPr>
          <a:xfrm>
            <a:off x="438912" y="1024128"/>
            <a:ext cx="11311128" cy="1762506"/>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Chương trình giáo dục phổ thông môn Lịch sử 2018 (Thông tư 32/2018/TT-BGDĐT) đặt ba năng lực: tìm hiểu lịch sử, nhận thức và tư duy lịch sử, vận dụng.</a:t>
            </a:r>
          </a:p>
          <a:p>
            <a:pPr algn="l">
              <a:spcBef>
                <a:spcPts val="0"/>
              </a:spcBef>
              <a:spcAft>
                <a:spcPts val="800"/>
              </a:spcAft>
            </a:pPr>
            <a:r>
              <a:rPr sz="1800" b="0" i="0">
                <a:solidFill>
                  <a:srgbClr val="1A1A1A"/>
                </a:solidFill>
                <a:latin typeface="Arial"/>
                <a:ea typeface="Arial"/>
                <a:cs typeface="Arial"/>
              </a:rPr>
              <a:t>• Người học phải nêu sự kiện có thời gian và địa điểm, chỉ ra tư liệu mình dựa vào, và giải thích quan hệ giữa nguyên nhân và diễn biến.</a:t>
            </a:r>
          </a:p>
          <a:p>
            <a:pPr algn="l">
              <a:spcBef>
                <a:spcPts val="0"/>
              </a:spcBef>
              <a:spcAft>
                <a:spcPts val="800"/>
              </a:spcAft>
            </a:pPr>
            <a:r>
              <a:rPr sz="1800" b="0" i="0">
                <a:solidFill>
                  <a:srgbClr val="1A1A1A"/>
                </a:solidFill>
                <a:latin typeface="Arial"/>
                <a:ea typeface="Arial"/>
                <a:cs typeface="Arial"/>
              </a:rPr>
              <a:t>• Trên lớp, giáo viên vẫn dùng cách hỏi 5W1H qua phiếu học tập và sơ đồ.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A · Dự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Vấn đề: tri thức sử chưa có chỗ để hỏi và kiểm</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3 / 21</a:t>
            </a:r>
          </a:p>
        </p:txBody>
      </p:sp>
      <p:sp>
        <p:nvSpPr>
          <p:cNvPr id="7" name="TextBox 6"/>
          <p:cNvSpPr txBox="1"/>
          <p:nvPr/>
        </p:nvSpPr>
        <p:spPr>
          <a:xfrm>
            <a:off x="438912" y="1024128"/>
            <a:ext cx="11311128" cy="2084832"/>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Bài giảng lịch sử nằm lại trong vở, khó dùng lại, không đo được độ bám nguồn.</a:t>
            </a:r>
          </a:p>
          <a:p>
            <a:pPr algn="l">
              <a:spcBef>
                <a:spcPts val="0"/>
              </a:spcBef>
              <a:spcAft>
                <a:spcPts val="800"/>
              </a:spcAft>
            </a:pPr>
            <a:r>
              <a:rPr sz="1600" b="0" i="0">
                <a:solidFill>
                  <a:srgbClr val="1A1A1A"/>
                </a:solidFill>
                <a:latin typeface="Arial"/>
                <a:ea typeface="Arial"/>
                <a:cs typeface="Arial"/>
              </a:rPr>
              <a:t>• Thư viện số tìm được cuốn sách, nhưng không trả lời được "ai có mặt ở trận Bạch Đằng 1288".</a:t>
            </a:r>
          </a:p>
          <a:p>
            <a:pPr algn="l">
              <a:spcBef>
                <a:spcPts val="0"/>
              </a:spcBef>
              <a:spcAft>
                <a:spcPts val="800"/>
              </a:spcAft>
            </a:pPr>
            <a:r>
              <a:rPr sz="1600" b="0" i="0">
                <a:solidFill>
                  <a:srgbClr val="1A1A1A"/>
                </a:solidFill>
                <a:latin typeface="Arial"/>
                <a:ea typeface="Arial"/>
                <a:cs typeface="Arial"/>
              </a:rPr>
              <a:t>• Chatbot trả lời trôi chảy nhưng có thể thêm năm, thêm người không có trong nguồn.</a:t>
            </a:r>
          </a:p>
          <a:p>
            <a:pPr algn="l">
              <a:spcBef>
                <a:spcPts val="0"/>
              </a:spcBef>
              <a:spcAft>
                <a:spcPts val="800"/>
              </a:spcAft>
            </a:pPr>
            <a:r>
              <a:rPr sz="1600" b="0" i="0">
                <a:solidFill>
                  <a:srgbClr val="1A1A1A"/>
                </a:solidFill>
                <a:latin typeface="Arial"/>
                <a:ea typeface="Arial"/>
                <a:cs typeface="Arial"/>
              </a:rPr>
              <a:t>• Một nhân vật có nhiều tên gọi: Trần Quốc Tuấn, Hưng Đạo Vương, Hưng Đạo Đại Vương.</a:t>
            </a:r>
          </a:p>
          <a:p>
            <a:pPr algn="l">
              <a:spcBef>
                <a:spcPts val="0"/>
              </a:spcBef>
              <a:spcAft>
                <a:spcPts val="800"/>
              </a:spcAft>
            </a:pPr>
            <a:r>
              <a:rPr sz="1600" b="0" i="0">
                <a:solidFill>
                  <a:srgbClr val="1A1A1A"/>
                </a:solidFill>
                <a:latin typeface="Arial"/>
                <a:ea typeface="Arial"/>
                <a:cs typeface="Arial"/>
              </a:rPr>
              <a:t>• Hai bộ sử có thể kể khác nhau về cùng một trận.</a:t>
            </a:r>
          </a:p>
          <a:p>
            <a:pPr algn="l">
              <a:spcBef>
                <a:spcPts val="0"/>
              </a:spcBef>
              <a:spcAft>
                <a:spcPts val="800"/>
              </a:spcAft>
            </a:pPr>
            <a:r>
              <a:rPr sz="1600" b="0" i="0">
                <a:solidFill>
                  <a:srgbClr val="1A1A1A"/>
                </a:solidFill>
                <a:latin typeface="Arial"/>
                <a:ea typeface="Arial"/>
                <a:cs typeface="Arial"/>
              </a:rPr>
              <a:t>• Thực tiễn cần một hệ thống giải quyết các vấn đề này.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A · Dự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Ý tưởng dự án</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4 / 21</a:t>
            </a:r>
          </a:p>
        </p:txBody>
      </p:sp>
      <p:sp>
        <p:nvSpPr>
          <p:cNvPr id="7" name="TextBox 6"/>
          <p:cNvSpPr txBox="1"/>
          <p:nvPr/>
        </p:nvSpPr>
        <p:spPr>
          <a:xfrm>
            <a:off x="438912" y="1024128"/>
            <a:ext cx="11311128" cy="2011680"/>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Dựng một kho sử liệu mà mỗi sự kiện đều nối được về câu gốc trong nguồn.</a:t>
            </a:r>
          </a:p>
          <a:p>
            <a:pPr algn="l">
              <a:spcBef>
                <a:spcPts val="0"/>
              </a:spcBef>
              <a:spcAft>
                <a:spcPts val="800"/>
              </a:spcAft>
            </a:pPr>
            <a:r>
              <a:rPr sz="1600" b="0" i="0">
                <a:solidFill>
                  <a:srgbClr val="1A1A1A"/>
                </a:solidFill>
                <a:latin typeface="Arial"/>
                <a:ea typeface="Arial"/>
                <a:cs typeface="Arial"/>
              </a:rPr>
              <a:t>• Sự kiện, nhân vật, địa danh, thời gian và nguồn được nối thành một mạng lưới thực thể.</a:t>
            </a:r>
          </a:p>
          <a:p>
            <a:pPr algn="l">
              <a:spcBef>
                <a:spcPts val="0"/>
              </a:spcBef>
              <a:spcAft>
                <a:spcPts val="800"/>
              </a:spcAft>
            </a:pPr>
            <a:r>
              <a:rPr sz="1600" b="0" i="0">
                <a:solidFill>
                  <a:srgbClr val="1A1A1A"/>
                </a:solidFill>
                <a:latin typeface="Arial"/>
                <a:ea typeface="Arial"/>
                <a:cs typeface="Arial"/>
              </a:rPr>
              <a:t>• Trên kho đó, người học đặt câu hỏi và nhận câu trả lời có dẫn nguồn.</a:t>
            </a:r>
          </a:p>
          <a:p>
            <a:pPr algn="l">
              <a:spcBef>
                <a:spcPts val="0"/>
              </a:spcBef>
              <a:spcAft>
                <a:spcPts val="800"/>
              </a:spcAft>
            </a:pPr>
            <a:r>
              <a:rPr sz="1600" b="0" i="0">
                <a:solidFill>
                  <a:srgbClr val="1A1A1A"/>
                </a:solidFill>
                <a:latin typeface="Arial"/>
                <a:ea typeface="Arial"/>
                <a:cs typeface="Arial"/>
              </a:rPr>
              <a:t>• Hệ thống gợi ý ba thao tác của sử học: kiểm nguồn, đặt sự kiện vào đúng thời gian và địa điểm, đối chiếu hai nguồn.</a:t>
            </a:r>
          </a:p>
          <a:p>
            <a:pPr algn="l">
              <a:spcBef>
                <a:spcPts val="0"/>
              </a:spcBef>
              <a:spcAft>
                <a:spcPts val="800"/>
              </a:spcAft>
            </a:pPr>
            <a:r>
              <a:rPr sz="1600" b="0" i="0">
                <a:solidFill>
                  <a:srgbClr val="1A1A1A"/>
                </a:solidFill>
                <a:latin typeface="Arial"/>
                <a:ea typeface="Arial"/>
                <a:cs typeface="Arial"/>
              </a:rPr>
              <a:t>• Máy làm phần thư ký. Không thay giáo viên, không trả lời hộ học sinh.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A · Dự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Lộ trình dự án và vị trí của đồ án</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5 / 21</a:t>
            </a:r>
          </a:p>
        </p:txBody>
      </p:sp>
      <p:graphicFrame>
        <p:nvGraphicFramePr>
          <p:cNvPr id="7" name="Table 6"/>
          <p:cNvGraphicFramePr>
            <a:graphicFrameLocks noGrp="1"/>
          </p:cNvGraphicFramePr>
          <p:nvPr/>
        </p:nvGraphicFramePr>
        <p:xfrm>
          <a:off x="438912" y="1024128"/>
          <a:ext cx="11311126" cy="1536192"/>
        </p:xfrm>
        <a:graphic>
          <a:graphicData uri="http://schemas.openxmlformats.org/drawingml/2006/table">
            <a:tbl>
              <a:tblPr firstRow="1" bandRow="1">
                <a:tableStyleId>{5C22544A-7EE6-4342-B048-85BDC9FD1C3A}</a:tableStyleId>
              </a:tblPr>
              <a:tblGrid>
                <a:gridCol w="1618070"/>
                <a:gridCol w="1246765"/>
                <a:gridCol w="6983251"/>
                <a:gridCol w="1463040"/>
              </a:tblGrid>
              <a:tr h="384048">
                <a:tc>
                  <a:txBody>
                    <a:bodyPr wrap="square"/>
                    <a:lstStyle/>
                    <a:p>
                      <a:pPr algn="ctr"/>
                      <a:r>
                        <a:rPr sz="1200" b="1" i="0">
                          <a:solidFill>
                            <a:srgbClr val="FFFFFF"/>
                          </a:solidFill>
                          <a:latin typeface="Arial"/>
                          <a:ea typeface="Arial"/>
                          <a:cs typeface="Arial"/>
                        </a:rPr>
                        <a:t>Giai đoạn</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Thời gian</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Việc chính</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Đồ án</a:t>
                      </a:r>
                    </a:p>
                  </a:txBody>
                  <a:tcPr anchor="ctr" marL="54864" marR="54864" marT="27432" marB="27432">
                    <a:solidFill>
                      <a:srgbClr val="1F3864"/>
                    </a:solidFill>
                  </a:tcPr>
                </a:tc>
              </a:tr>
              <a:tr h="384048">
                <a:tc>
                  <a:txBody>
                    <a:bodyPr wrap="square"/>
                    <a:lstStyle/>
                    <a:p>
                      <a:pPr algn="l"/>
                      <a:r>
                        <a:rPr sz="1200" b="0" i="0">
                          <a:solidFill>
                            <a:srgbClr val="1A1A1A"/>
                          </a:solidFill>
                          <a:latin typeface="Arial"/>
                          <a:ea typeface="Arial"/>
                          <a:cs typeface="Arial"/>
                        </a:rPr>
                        <a:t>Phase 1, phần đồ án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12 tuần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Schema, mã mờ, master registry, trích xuất, khử trùng lặp danh xưng</a:t>
                      </a:r>
                    </a:p>
                  </a:txBody>
                  <a:tcPr anchor="ctr" marL="54864" marR="54864" marT="27432" marB="27432">
                    <a:solidFill>
                      <a:srgbClr val="FFFFFF"/>
                    </a:solidFill>
                  </a:tcPr>
                </a:tc>
                <a:tc>
                  <a:txBody>
                    <a:bodyPr wrap="square"/>
                    <a:lstStyle/>
                    <a:p>
                      <a:pPr algn="l"/>
                      <a:r>
                        <a:rPr sz="1200" b="1" i="0">
                          <a:solidFill>
                            <a:srgbClr val="1A1A1A"/>
                          </a:solidFill>
                          <a:latin typeface="Arial"/>
                          <a:ea typeface="Arial"/>
                          <a:cs typeface="Arial"/>
                        </a:rPr>
                        <a:t>Có</a:t>
                      </a:r>
                    </a:p>
                  </a:txBody>
                  <a:tcPr anchor="ctr" marL="54864" marR="54864" marT="27432" marB="27432">
                    <a:solidFill>
                      <a:srgbClr val="E4ECF6"/>
                    </a:solidFill>
                  </a:tcPr>
                </a:tc>
              </a:tr>
              <a:tr h="384048">
                <a:tc>
                  <a:txBody>
                    <a:bodyPr wrap="square"/>
                    <a:lstStyle/>
                    <a:p>
                      <a:pPr algn="l"/>
                      <a:r>
                        <a:rPr sz="1200" b="0" i="0">
                          <a:solidFill>
                            <a:srgbClr val="1A1A1A"/>
                          </a:solidFill>
                          <a:latin typeface="Arial"/>
                          <a:ea typeface="Arial"/>
                          <a:cs typeface="Arial"/>
                        </a:rPr>
                        <a:t>Phase 1, phần sau</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Sau đồ án</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Cắt đoạn, embedding hàng loạt, liên kết đoạn văn với node, giữ hai nguồn lệch nhau</a:t>
                      </a:r>
                    </a:p>
                  </a:txBody>
                  <a:tcPr anchor="ctr" marL="54864" marR="54864" marT="27432" marB="27432">
                    <a:solidFill>
                      <a:srgbClr val="F4F7FB"/>
                    </a:solidFill>
                  </a:tcPr>
                </a:tc>
                <a:tc>
                  <a:txBody>
                    <a:bodyPr wrap="square"/>
                    <a:lstStyle/>
                    <a:p>
                      <a:pPr algn="l"/>
                      <a:r>
                        <a:rPr sz="1200" b="1" i="0">
                          <a:solidFill>
                            <a:srgbClr val="1A1A1A"/>
                          </a:solidFill>
                          <a:latin typeface="Arial"/>
                          <a:ea typeface="Arial"/>
                          <a:cs typeface="Arial"/>
                        </a:rPr>
                        <a:t>Không</a:t>
                      </a:r>
                    </a:p>
                  </a:txBody>
                  <a:tcPr anchor="ctr" marL="54864" marR="54864" marT="27432" marB="27432">
                    <a:solidFill>
                      <a:srgbClr val="E4ECF6"/>
                    </a:solidFill>
                  </a:tcPr>
                </a:tc>
              </a:tr>
              <a:tr h="384048">
                <a:tc>
                  <a:txBody>
                    <a:bodyPr wrap="square"/>
                    <a:lstStyle/>
                    <a:p>
                      <a:pPr algn="l"/>
                      <a:r>
                        <a:rPr sz="1200" b="0" i="0">
                          <a:solidFill>
                            <a:srgbClr val="1A1A1A"/>
                          </a:solidFill>
                          <a:latin typeface="Arial"/>
                          <a:ea typeface="Arial"/>
                          <a:cs typeface="Arial"/>
                        </a:rPr>
                        <a:t>Phase 2</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Sau Phase 1</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Agent hỏi đáp, lọc thời gian và địa điểm, scaffolding học tập, thử trên lớp</a:t>
                      </a:r>
                    </a:p>
                  </a:txBody>
                  <a:tcPr anchor="ctr" marL="54864" marR="54864" marT="27432" marB="27432">
                    <a:solidFill>
                      <a:srgbClr val="FFFFFF"/>
                    </a:solidFill>
                  </a:tcPr>
                </a:tc>
                <a:tc>
                  <a:txBody>
                    <a:bodyPr wrap="square"/>
                    <a:lstStyle/>
                    <a:p>
                      <a:pPr algn="l"/>
                      <a:r>
                        <a:rPr sz="1200" b="1" i="0">
                          <a:solidFill>
                            <a:srgbClr val="1A1A1A"/>
                          </a:solidFill>
                          <a:latin typeface="Arial"/>
                          <a:ea typeface="Arial"/>
                          <a:cs typeface="Arial"/>
                        </a:rPr>
                        <a:t>Không</a:t>
                      </a:r>
                    </a:p>
                  </a:txBody>
                  <a:tcPr anchor="ctr" marL="54864" marR="54864" marT="27432" marB="27432">
                    <a:solidFill>
                      <a:srgbClr val="E4ECF6"/>
                    </a:solidFill>
                  </a:tcPr>
                </a:tc>
              </a:tr>
            </a:tbl>
          </a:graphicData>
        </a:graphic>
      </p:graphicFrame>
      <p:sp>
        <p:nvSpPr>
          <p:cNvPr id="8" name="TextBox 7"/>
          <p:cNvSpPr txBox="1"/>
          <p:nvPr/>
        </p:nvSpPr>
        <p:spPr>
          <a:xfrm>
            <a:off x="438912" y="2670048"/>
            <a:ext cx="11311128" cy="763524"/>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Dự án dài 18 tháng. Đồ án là 12 tuần mở đầu Phase 1, theo đề cương.</a:t>
            </a:r>
          </a:p>
          <a:p>
            <a:pPr algn="l">
              <a:spcBef>
                <a:spcPts val="0"/>
              </a:spcBef>
              <a:spcAft>
                <a:spcPts val="800"/>
              </a:spcAft>
            </a:pPr>
            <a:r>
              <a:rPr sz="1800" b="0" i="0">
                <a:solidFill>
                  <a:srgbClr val="1A1A1A"/>
                </a:solidFill>
                <a:latin typeface="Arial"/>
                <a:ea typeface="Arial"/>
                <a:cs typeface="Arial"/>
              </a:rPr>
              <a:t>• PostgreSQL là master registry: cấp mã mờ, giữ danh xưng, nguồn và 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Phạm vi đồ án</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6 / 21</a:t>
            </a:r>
          </a:p>
        </p:txBody>
      </p:sp>
      <p:sp>
        <p:nvSpPr>
          <p:cNvPr id="7" name="TextBox 6"/>
          <p:cNvSpPr txBox="1"/>
          <p:nvPr/>
        </p:nvSpPr>
        <p:spPr>
          <a:xfrm>
            <a:off x="438912"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Làm trong đồ án:</a:t>
            </a:r>
          </a:p>
        </p:txBody>
      </p:sp>
      <p:sp>
        <p:nvSpPr>
          <p:cNvPr id="8" name="TextBox 7"/>
          <p:cNvSpPr txBox="1"/>
          <p:nvPr/>
        </p:nvSpPr>
        <p:spPr>
          <a:xfrm>
            <a:off x="438912"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Nhận đầu vào là văn bản sử liệu tiếng Việt.</a:t>
            </a:r>
          </a:p>
          <a:p>
            <a:pPr algn="l">
              <a:spcBef>
                <a:spcPts val="0"/>
              </a:spcBef>
              <a:spcAft>
                <a:spcPts val="800"/>
              </a:spcAft>
            </a:pPr>
            <a:r>
              <a:rPr sz="1600" b="0" i="0">
                <a:solidFill>
                  <a:srgbClr val="1A1A1A"/>
                </a:solidFill>
                <a:latin typeface="Arial"/>
                <a:ea typeface="Arial"/>
                <a:cs typeface="Arial"/>
              </a:rPr>
              <a:t>• Mã định danh mờ do PostgreSQL cấp, giữ trong master registry.</a:t>
            </a:r>
          </a:p>
          <a:p>
            <a:pPr algn="l">
              <a:spcBef>
                <a:spcPts val="0"/>
              </a:spcBef>
              <a:spcAft>
                <a:spcPts val="800"/>
              </a:spcAft>
            </a:pPr>
            <a:r>
              <a:rPr sz="1600" b="0" i="0">
                <a:solidFill>
                  <a:srgbClr val="1A1A1A"/>
                </a:solidFill>
                <a:latin typeface="Arial"/>
                <a:ea typeface="Arial"/>
                <a:cs typeface="Arial"/>
              </a:rPr>
              <a:t>• Trích xuất bản ghi chủ thể và quan hệ theo hệ thống chủ thể và từ khóa, khử trùng lặp danh xưng, nạp vào knowledge graph.</a:t>
            </a:r>
          </a:p>
          <a:p>
            <a:pPr algn="l">
              <a:spcBef>
                <a:spcPts val="0"/>
              </a:spcBef>
              <a:spcAft>
                <a:spcPts val="800"/>
              </a:spcAft>
            </a:pPr>
            <a:r>
              <a:rPr sz="1600" b="0" i="0">
                <a:solidFill>
                  <a:srgbClr val="1A1A1A"/>
                </a:solidFill>
                <a:latin typeface="Arial"/>
                <a:ea typeface="Arial"/>
                <a:cs typeface="Arial"/>
              </a:rPr>
              <a:t>• Kho thí điểm: sử liệu đã gắn nhãn về một sự kiện lịch sử, lấy từ nhiều nguồn.</a:t>
            </a:r>
          </a:p>
          <a:p>
            <a:pPr algn="l">
              <a:spcBef>
                <a:spcPts val="0"/>
              </a:spcBef>
              <a:spcAft>
                <a:spcPts val="800"/>
              </a:spcAft>
            </a:pPr>
            <a:r>
              <a:rPr sz="1600" b="0" i="0">
                <a:solidFill>
                  <a:srgbClr val="1A1A1A"/>
                </a:solidFill>
                <a:latin typeface="Arial"/>
                <a:ea typeface="Arial"/>
                <a:cs typeface="Arial"/>
              </a:rPr>
              <a:t>• Bốn API: /extract-5w1h, /resolve-entity, /ingest-graph, /entities/{entity_id}.</a:t>
            </a:r>
          </a:p>
          <a:p>
            <a:pPr algn="l">
              <a:spcBef>
                <a:spcPts val="0"/>
              </a:spcBef>
              <a:spcAft>
                <a:spcPts val="800"/>
              </a:spcAft>
            </a:pPr>
            <a:r>
              <a:rPr sz="1600" b="0" i="0">
                <a:solidFill>
                  <a:srgbClr val="1A1A1A"/>
                </a:solidFill>
                <a:latin typeface="Arial"/>
                <a:ea typeface="Arial"/>
                <a:cs typeface="Arial"/>
              </a:rPr>
              <a:t>• Giao diện demo cho người vận hành.</a:t>
            </a:r>
          </a:p>
        </p:txBody>
      </p:sp>
      <p:sp>
        <p:nvSpPr>
          <p:cNvPr id="9" name="TextBox 8"/>
          <p:cNvSpPr txBox="1"/>
          <p:nvPr/>
        </p:nvSpPr>
        <p:spPr>
          <a:xfrm>
            <a:off x="6309360"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Không làm trong đồ án:</a:t>
            </a:r>
          </a:p>
        </p:txBody>
      </p:sp>
      <p:sp>
        <p:nvSpPr>
          <p:cNvPr id="10" name="TextBox 9"/>
          <p:cNvSpPr txBox="1"/>
          <p:nvPr/>
        </p:nvSpPr>
        <p:spPr>
          <a:xfrm>
            <a:off x="6309360"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Chatbot cho học sinh, ToolPlanner, thử trên lớp.</a:t>
            </a:r>
          </a:p>
          <a:p>
            <a:pPr algn="l">
              <a:spcBef>
                <a:spcPts val="0"/>
              </a:spcBef>
              <a:spcAft>
                <a:spcPts val="800"/>
              </a:spcAft>
            </a:pPr>
            <a:r>
              <a:rPr sz="1600" b="0" i="0">
                <a:solidFill>
                  <a:srgbClr val="1A1A1A"/>
                </a:solidFill>
                <a:latin typeface="Arial"/>
                <a:ea typeface="Arial"/>
                <a:cs typeface="Arial"/>
              </a:rPr>
              <a:t>• Cắt đoạn và embedding hàng loạt.</a:t>
            </a:r>
          </a:p>
          <a:p>
            <a:pPr algn="l">
              <a:spcBef>
                <a:spcPts val="0"/>
              </a:spcBef>
              <a:spcAft>
                <a:spcPts val="800"/>
              </a:spcAft>
            </a:pPr>
            <a:r>
              <a:rPr sz="1600" b="0" i="0">
                <a:solidFill>
                  <a:srgbClr val="1A1A1A"/>
                </a:solidFill>
                <a:latin typeface="Arial"/>
                <a:ea typeface="Arial"/>
                <a:cs typeface="Arial"/>
              </a:rPr>
              <a:t>• Ghi dị bản giữa hai nguồn.</a:t>
            </a:r>
          </a:p>
          <a:p>
            <a:pPr algn="l">
              <a:spcBef>
                <a:spcPts val="0"/>
              </a:spcBef>
              <a:spcAft>
                <a:spcPts val="800"/>
              </a:spcAft>
            </a:pPr>
            <a:r>
              <a:rPr sz="1600" b="0" i="0">
                <a:solidFill>
                  <a:srgbClr val="1A1A1A"/>
                </a:solidFill>
                <a:latin typeface="Arial"/>
                <a:ea typeface="Arial"/>
                <a:cs typeface="Arial"/>
              </a:rPr>
              <a:t>• Nhận dạng chữ từ ảnh (OCR).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Bài toán của đồ án</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7 / 21</a:t>
            </a:r>
          </a:p>
        </p:txBody>
      </p:sp>
      <p:sp>
        <p:nvSpPr>
          <p:cNvPr id="7" name="TextBox 6"/>
          <p:cNvSpPr txBox="1"/>
          <p:nvPr/>
        </p:nvSpPr>
        <p:spPr>
          <a:xfrm>
            <a:off x="438912" y="1024128"/>
            <a:ext cx="11311128" cy="2286000"/>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Đầu vào: một đoạn sử liệu tiếng Việt.</a:t>
            </a:r>
          </a:p>
          <a:p>
            <a:pPr algn="l">
              <a:spcBef>
                <a:spcPts val="0"/>
              </a:spcBef>
              <a:spcAft>
                <a:spcPts val="800"/>
              </a:spcAft>
            </a:pPr>
            <a:r>
              <a:rPr sz="1600" b="0" i="0">
                <a:solidFill>
                  <a:srgbClr val="1A1A1A"/>
                </a:solidFill>
                <a:latin typeface="Arial"/>
                <a:ea typeface="Arial"/>
                <a:cs typeface="Arial"/>
              </a:rPr>
              <a:t>• Đầu ra: các bản ghi chủ thể mà đoạn chữ có nói tới (người, tổ chức, sự kiện, nơi, thời gian, hiện vật, kế sách, nguồn), mỗi bản ghi mang mã và các từ khóa có giá trị, cùng các quan hệ giữa chúng.</a:t>
            </a:r>
          </a:p>
          <a:p>
            <a:pPr algn="l">
              <a:spcBef>
                <a:spcPts val="0"/>
              </a:spcBef>
              <a:spcAft>
                <a:spcPts val="800"/>
              </a:spcAft>
            </a:pPr>
            <a:r>
              <a:rPr sz="1600" b="0" i="0">
                <a:solidFill>
                  <a:srgbClr val="1A1A1A"/>
                </a:solidFill>
                <a:latin typeface="Arial"/>
                <a:ea typeface="Arial"/>
                <a:cs typeface="Arial"/>
              </a:rPr>
              <a:t>• Mỗi từ khóa có giá trị và mỗi quan hệ đều kèm đoạn trích nguồn.</a:t>
            </a:r>
          </a:p>
          <a:p>
            <a:pPr algn="l">
              <a:spcBef>
                <a:spcPts val="0"/>
              </a:spcBef>
              <a:spcAft>
                <a:spcPts val="800"/>
              </a:spcAft>
            </a:pPr>
            <a:r>
              <a:rPr sz="1600" b="0" i="0">
                <a:solidFill>
                  <a:srgbClr val="1A1A1A"/>
                </a:solidFill>
                <a:latin typeface="Arial"/>
                <a:ea typeface="Arial"/>
                <a:cs typeface="Arial"/>
              </a:rPr>
              <a:t>• Danh xưng đã có trong master registry thì gắn vào đúng mã cũ, không sinh node thứ hai.</a:t>
            </a:r>
          </a:p>
          <a:p>
            <a:pPr algn="l">
              <a:spcBef>
                <a:spcPts val="0"/>
              </a:spcBef>
              <a:spcAft>
                <a:spcPts val="800"/>
              </a:spcAft>
            </a:pPr>
            <a:r>
              <a:rPr sz="1600" b="0" i="0">
                <a:solidFill>
                  <a:srgbClr val="1A1A1A"/>
                </a:solidFill>
                <a:latin typeface="Arial"/>
                <a:ea typeface="Arial"/>
                <a:cs typeface="Arial"/>
              </a:rPr>
              <a:t>• Kết quả hợp lệ được nạp vào knowledge graph. Thiếu đoạn trích thì DRAFT. Chưa đủ chắc để tự gộp thì FLAGGED.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Cơ sở khoa học xã hội</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8 / 21</a:t>
            </a:r>
          </a:p>
        </p:txBody>
      </p:sp>
      <p:sp>
        <p:nvSpPr>
          <p:cNvPr id="7" name="TextBox 6"/>
          <p:cNvSpPr txBox="1"/>
          <p:nvPr/>
        </p:nvSpPr>
        <p:spPr>
          <a:xfrm>
            <a:off x="438912" y="1024128"/>
            <a:ext cx="11311128" cy="2286000"/>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Tư duy lịch sử (van Drie và van Boxtel): đặt câu hỏi, dùng nguồn, đặt vào bối cảnh, lập luận, dùng khái niệm của ngành.</a:t>
            </a:r>
          </a:p>
          <a:p>
            <a:pPr algn="l">
              <a:spcBef>
                <a:spcPts val="0"/>
              </a:spcBef>
              <a:spcAft>
                <a:spcPts val="800"/>
              </a:spcAft>
            </a:pPr>
            <a:r>
              <a:rPr sz="1600" b="0" i="0">
                <a:solidFill>
                  <a:srgbClr val="1A1A1A"/>
                </a:solidFill>
                <a:latin typeface="Arial"/>
                <a:ea typeface="Arial"/>
                <a:cs typeface="Arial"/>
              </a:rPr>
              <a:t>• Học tập bằng tìm tòi trong môn Sử: người học làm việc với tư liệu, không nhận một bài kể đã viết sẵn.</a:t>
            </a:r>
          </a:p>
          <a:p>
            <a:pPr algn="l">
              <a:spcBef>
                <a:spcPts val="0"/>
              </a:spcBef>
              <a:spcAft>
                <a:spcPts val="800"/>
              </a:spcAft>
            </a:pPr>
            <a:r>
              <a:rPr sz="1600" b="0" i="0">
                <a:solidFill>
                  <a:srgbClr val="1A1A1A"/>
                </a:solidFill>
                <a:latin typeface="Arial"/>
                <a:ea typeface="Arial"/>
                <a:cs typeface="Arial"/>
              </a:rPr>
              <a:t>• 5W1H là cách hỏi quen trên lớp. Mỗi câu hỏi trỏ tới một loại thực thể, nên đồ án chuyển 5W1H thành tám chủ thể có từ khóa.</a:t>
            </a:r>
          </a:p>
          <a:p>
            <a:pPr algn="l">
              <a:spcBef>
                <a:spcPts val="0"/>
              </a:spcBef>
              <a:spcAft>
                <a:spcPts val="800"/>
              </a:spcAft>
            </a:pPr>
            <a:r>
              <a:rPr sz="1600" b="0" i="0">
                <a:solidFill>
                  <a:srgbClr val="1A1A1A"/>
                </a:solidFill>
                <a:latin typeface="Arial"/>
                <a:ea typeface="Arial"/>
                <a:cs typeface="Arial"/>
              </a:rPr>
              <a:t>• Sử học làm việc với lời kể có nguồn. Đơn vị dữ liệu của đồ án là thực thể và quan hệ kèm đoạn trích.</a:t>
            </a:r>
          </a:p>
          <a:p>
            <a:pPr algn="l">
              <a:spcBef>
                <a:spcPts val="0"/>
              </a:spcBef>
              <a:spcAft>
                <a:spcPts val="800"/>
              </a:spcAft>
            </a:pPr>
            <a:r>
              <a:rPr sz="1600" b="0" i="0">
                <a:solidFill>
                  <a:srgbClr val="1A1A1A"/>
                </a:solidFill>
                <a:latin typeface="Arial"/>
                <a:ea typeface="Arial"/>
                <a:cs typeface="Arial"/>
              </a:rPr>
              <a:t>• Câu hỏi "vì sao" thường là lời giải thích của người viết sử. Đồ án chỉ ghi hệ quả khi nguồn có viết.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Thực trạng tại Việt Nam</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9 / 21</a:t>
            </a:r>
          </a:p>
        </p:txBody>
      </p:sp>
      <p:graphicFrame>
        <p:nvGraphicFramePr>
          <p:cNvPr id="7" name="Table 6"/>
          <p:cNvGraphicFramePr>
            <a:graphicFrameLocks noGrp="1"/>
          </p:cNvGraphicFramePr>
          <p:nvPr/>
        </p:nvGraphicFramePr>
        <p:xfrm>
          <a:off x="438912" y="1024128"/>
          <a:ext cx="11311126" cy="2414012"/>
        </p:xfrm>
        <a:graphic>
          <a:graphicData uri="http://schemas.openxmlformats.org/drawingml/2006/table">
            <a:tbl>
              <a:tblPr firstRow="1" bandRow="1">
                <a:tableStyleId>{5C22544A-7EE6-4342-B048-85BDC9FD1C3A}</a:tableStyleId>
              </a:tblPr>
              <a:tblGrid>
                <a:gridCol w="1307188"/>
                <a:gridCol w="1307188"/>
                <a:gridCol w="1307188"/>
                <a:gridCol w="2102203"/>
                <a:gridCol w="5287359"/>
              </a:tblGrid>
              <a:tr h="603503">
                <a:tc>
                  <a:txBody>
                    <a:bodyPr wrap="square"/>
                    <a:lstStyle/>
                    <a:p>
                      <a:pPr algn="ctr"/>
                      <a:r>
                        <a:rPr sz="1200" b="1" i="0">
                          <a:solidFill>
                            <a:srgbClr val="FFFFFF"/>
                          </a:solidFill>
                          <a:latin typeface="Arial"/>
                          <a:ea typeface="Arial"/>
                          <a:cs typeface="Arial"/>
                        </a:rPr>
                        <a:t>Tiêu chí</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Phiếu trên lớp</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Thư viện số</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Knowledge graph từ sách giáo khoa</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Đồ án</a:t>
                      </a:r>
                    </a:p>
                  </a:txBody>
                  <a:tcPr anchor="ctr" marL="54864" marR="54864" marT="27432" marB="27432">
                    <a:solidFill>
                      <a:srgbClr val="1F3864"/>
                    </a:solidFill>
                  </a:tcPr>
                </a:tc>
              </a:tr>
              <a:tr h="603503">
                <a:tc>
                  <a:txBody>
                    <a:bodyPr wrap="square"/>
                    <a:lstStyle/>
                    <a:p>
                      <a:pPr algn="l"/>
                      <a:r>
                        <a:rPr sz="1200" b="0" i="0">
                          <a:solidFill>
                            <a:srgbClr val="1A1A1A"/>
                          </a:solidFill>
                          <a:latin typeface="Arial"/>
                          <a:ea typeface="Arial"/>
                          <a:cs typeface="Arial"/>
                        </a:rPr>
                        <a:t>Đơn vị ghi</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Bảng học sinh điền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Tệp, thông tin bìa</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Node theo bài</a:t>
                      </a:r>
                    </a:p>
                  </a:txBody>
                  <a:tcPr anchor="ctr" marL="54864" marR="54864" marT="27432" marB="27432">
                    <a:solidFill>
                      <a:srgbClr val="FFFFFF"/>
                    </a:solidFill>
                  </a:tcPr>
                </a:tc>
                <a:tc>
                  <a:txBody>
                    <a:bodyPr wrap="square"/>
                    <a:lstStyle/>
                    <a:p>
                      <a:pPr algn="l"/>
                      <a:r>
                        <a:rPr sz="1200" b="1" i="0">
                          <a:solidFill>
                            <a:srgbClr val="1A1A1A"/>
                          </a:solidFill>
                          <a:latin typeface="Arial"/>
                          <a:ea typeface="Arial"/>
                          <a:cs typeface="Arial"/>
                        </a:rPr>
                        <a:t>Tám chủ thể có từ khóa, nối bằng quan hệ</a:t>
                      </a:r>
                    </a:p>
                  </a:txBody>
                  <a:tcPr anchor="ctr" marL="54864" marR="54864" marT="27432" marB="27432">
                    <a:solidFill>
                      <a:srgbClr val="E4ECF6"/>
                    </a:solidFill>
                  </a:tcPr>
                </a:tc>
              </a:tr>
              <a:tr h="603503">
                <a:tc>
                  <a:txBody>
                    <a:bodyPr wrap="square"/>
                    <a:lstStyle/>
                    <a:p>
                      <a:pPr algn="l"/>
                      <a:r>
                        <a:rPr sz="1200" b="0" i="0">
                          <a:solidFill>
                            <a:srgbClr val="1A1A1A"/>
                          </a:solidFill>
                          <a:latin typeface="Arial"/>
                          <a:ea typeface="Arial"/>
                          <a:cs typeface="Arial"/>
                        </a:rPr>
                        <a:t>Nhiều tên một người</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Giáo viên tự hiểu</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Không xử lý</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Tùy cách làm</a:t>
                      </a:r>
                    </a:p>
                  </a:txBody>
                  <a:tcPr anchor="ctr" marL="54864" marR="54864" marT="27432" marB="27432">
                    <a:solidFill>
                      <a:srgbClr val="F4F7FB"/>
                    </a:solidFill>
                  </a:tcPr>
                </a:tc>
                <a:tc>
                  <a:txBody>
                    <a:bodyPr wrap="square"/>
                    <a:lstStyle/>
                    <a:p>
                      <a:pPr algn="l"/>
                      <a:r>
                        <a:rPr sz="1200" b="1" i="0">
                          <a:solidFill>
                            <a:srgbClr val="1A1A1A"/>
                          </a:solidFill>
                          <a:latin typeface="Arial"/>
                          <a:ea typeface="Arial"/>
                          <a:cs typeface="Arial"/>
                        </a:rPr>
                        <a:t>Có khử trùng lặp danh xưng, có cờ FLAGGED</a:t>
                      </a:r>
                    </a:p>
                  </a:txBody>
                  <a:tcPr anchor="ctr" marL="54864" marR="54864" marT="27432" marB="27432">
                    <a:solidFill>
                      <a:srgbClr val="E4ECF6"/>
                    </a:solidFill>
                  </a:tcPr>
                </a:tc>
              </a:tr>
              <a:tr h="603503">
                <a:tc>
                  <a:txBody>
                    <a:bodyPr wrap="square"/>
                    <a:lstStyle/>
                    <a:p>
                      <a:pPr algn="l"/>
                      <a:r>
                        <a:rPr sz="1200" b="0" i="0">
                          <a:solidFill>
                            <a:srgbClr val="1A1A1A"/>
                          </a:solidFill>
                          <a:latin typeface="Arial"/>
                          <a:ea typeface="Arial"/>
                          <a:cs typeface="Arial"/>
                        </a:rPr>
                        <a:t>Đo được</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Không</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Không sinh sự kiện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Có thử nghiệm truy xuất đoạn</a:t>
                      </a:r>
                    </a:p>
                  </a:txBody>
                  <a:tcPr anchor="ctr" marL="54864" marR="54864" marT="27432" marB="27432">
                    <a:solidFill>
                      <a:srgbClr val="FFFFFF"/>
                    </a:solidFill>
                  </a:tcPr>
                </a:tc>
                <a:tc>
                  <a:txBody>
                    <a:bodyPr wrap="square"/>
                    <a:lstStyle/>
                    <a:p>
                      <a:pPr algn="l"/>
                      <a:r>
                        <a:rPr sz="1200" b="1" i="0">
                          <a:solidFill>
                            <a:srgbClr val="1A1A1A"/>
                          </a:solidFill>
                          <a:latin typeface="Arial"/>
                          <a:ea typeface="Arial"/>
                          <a:cs typeface="Arial"/>
                        </a:rPr>
                        <a:t>Độ khớp F1 theo từ khóa và theo quan hệ, precision của bước khử trùng lặp danh xưng</a:t>
                      </a:r>
                    </a:p>
                  </a:txBody>
                  <a:tcPr anchor="ctr" marL="54864" marR="54864" marT="27432" marB="27432">
                    <a:solidFill>
                      <a:srgbClr val="E4ECF6"/>
                    </a:solidFill>
                  </a:tcPr>
                </a:tc>
              </a:tr>
            </a:tbl>
          </a:graphicData>
        </a:graphic>
      </p:graphicFrame>
      <p:sp>
        <p:nvSpPr>
          <p:cNvPr id="8" name="TextBox 7"/>
          <p:cNvSpPr txBox="1"/>
          <p:nvPr/>
        </p:nvSpPr>
        <p:spPr>
          <a:xfrm>
            <a:off x="438912" y="3547871"/>
            <a:ext cx="11311128" cy="690372"/>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Có thêm hạ tầng tri thức cấp trường (VNU-LIC, giai đoạn 2026–2035), phục vụ nhiều ngành, chưa cắt riêng cho môn Sử.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Khoảng trống và câu hỏi nghiên cứu</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10 / 21</a:t>
            </a:r>
          </a:p>
        </p:txBody>
      </p:sp>
      <p:sp>
        <p:nvSpPr>
          <p:cNvPr id="7" name="TextBox 6"/>
          <p:cNvSpPr txBox="1"/>
          <p:nvPr/>
        </p:nvSpPr>
        <p:spPr>
          <a:xfrm>
            <a:off x="438912" y="1024128"/>
            <a:ext cx="11311128" cy="2452878"/>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Khoảng trống: chưa có pipeline đo được từ văn bản sử tiếng Việt -&gt; bản ghi chủ thể đã xác lập quan hệ -&gt; knowledge graph. Gold set do con người gắn nhãn dùng để đối chiếu.</a:t>
            </a:r>
          </a:p>
          <a:p>
            <a:pPr algn="l">
              <a:spcBef>
                <a:spcPts val="0"/>
              </a:spcBef>
              <a:spcAft>
                <a:spcPts val="800"/>
              </a:spcAft>
            </a:pPr>
            <a:r>
              <a:rPr sz="1800" b="0" i="0">
                <a:solidFill>
                  <a:srgbClr val="1A1A1A"/>
                </a:solidFill>
                <a:latin typeface="Arial"/>
                <a:ea typeface="Arial"/>
                <a:cs typeface="Arial"/>
              </a:rPr>
              <a:t>• RQ1: Cách quản lý sử liệu và trích xuất sự kiện hiện nay thuận lợi và vướng ở đâu với tiếng Việt và môn Lịch sử phổ thông?</a:t>
            </a:r>
          </a:p>
          <a:p>
            <a:pPr algn="l">
              <a:spcBef>
                <a:spcPts val="0"/>
              </a:spcBef>
              <a:spcAft>
                <a:spcPts val="800"/>
              </a:spcAft>
            </a:pPr>
            <a:r>
              <a:rPr sz="1800" b="0" i="0">
                <a:solidFill>
                  <a:srgbClr val="1A1A1A"/>
                </a:solidFill>
                <a:latin typeface="Arial"/>
                <a:ea typeface="Arial"/>
                <a:cs typeface="Arial"/>
              </a:rPr>
              <a:t>• RQ2: Trong phạm vi đồ án, cách nào vừa sức để trích xuất bản ghi chủ thể và quan hệ, khử trùng lặp danh xưng và nạp vào graph?</a:t>
            </a:r>
          </a:p>
          <a:p>
            <a:pPr algn="l">
              <a:spcBef>
                <a:spcPts val="0"/>
              </a:spcBef>
              <a:spcAft>
                <a:spcPts val="800"/>
              </a:spcAft>
            </a:pPr>
            <a:r>
              <a:rPr sz="1800" b="0" i="0">
                <a:solidFill>
                  <a:srgbClr val="1A1A1A"/>
                </a:solidFill>
                <a:latin typeface="Arial"/>
                <a:ea typeface="Arial"/>
                <a:cs typeface="Arial"/>
              </a:rPr>
              <a:t>• RQ3: Đo chất lượng trích xuất và chất lượng khử trùng lặp danh xưng bằng cách nào?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Tính mới và đóng góp</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11 / 21</a:t>
            </a:r>
          </a:p>
        </p:txBody>
      </p:sp>
      <p:sp>
        <p:nvSpPr>
          <p:cNvPr id="7" name="TextBox 6"/>
          <p:cNvSpPr txBox="1"/>
          <p:nvPr/>
        </p:nvSpPr>
        <p:spPr>
          <a:xfrm>
            <a:off x="438912"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Cách lưu trữ:</a:t>
            </a:r>
          </a:p>
        </p:txBody>
      </p:sp>
      <p:sp>
        <p:nvSpPr>
          <p:cNvPr id="8" name="TextBox 7"/>
          <p:cNvSpPr txBox="1"/>
          <p:nvPr/>
        </p:nvSpPr>
        <p:spPr>
          <a:xfrm>
            <a:off x="438912"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Lưu theo từng chủ thể thay vì lưu theo từng file sách.</a:t>
            </a:r>
          </a:p>
          <a:p>
            <a:pPr algn="l">
              <a:spcBef>
                <a:spcPts val="0"/>
              </a:spcBef>
              <a:spcAft>
                <a:spcPts val="800"/>
              </a:spcAft>
            </a:pPr>
            <a:r>
              <a:rPr sz="1600" b="0" i="0">
                <a:solidFill>
                  <a:srgbClr val="1A1A1A"/>
                </a:solidFill>
                <a:latin typeface="Arial"/>
                <a:ea typeface="Arial"/>
                <a:cs typeface="Arial"/>
              </a:rPr>
              <a:t>• Một chủ thể chỉ có một định danh trong database. Nhiều tên gọi vẫn là một chủ thể.</a:t>
            </a:r>
          </a:p>
          <a:p>
            <a:pPr algn="l">
              <a:spcBef>
                <a:spcPts val="0"/>
              </a:spcBef>
              <a:spcAft>
                <a:spcPts val="800"/>
              </a:spcAft>
            </a:pPr>
            <a:r>
              <a:rPr sz="1600" b="0" i="0">
                <a:solidFill>
                  <a:srgbClr val="1A1A1A"/>
                </a:solidFill>
                <a:latin typeface="Arial"/>
                <a:ea typeface="Arial"/>
                <a:cs typeface="Arial"/>
              </a:rPr>
              <a:t>• Nếu nhiều đoạn sử liệu khác nhau cùng gắn vào chủ thể. Mỗi đoạn vẫn được giữ nguyên vẹn cùng với nguồn của mình thay vì gộp nội dung.</a:t>
            </a:r>
          </a:p>
        </p:txBody>
      </p:sp>
      <p:sp>
        <p:nvSpPr>
          <p:cNvPr id="9" name="TextBox 8"/>
          <p:cNvSpPr txBox="1"/>
          <p:nvPr/>
        </p:nvSpPr>
        <p:spPr>
          <a:xfrm>
            <a:off x="6309360"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Pipeline trích xuất:</a:t>
            </a:r>
          </a:p>
        </p:txBody>
      </p:sp>
      <p:sp>
        <p:nvSpPr>
          <p:cNvPr id="10" name="TextBox 9"/>
          <p:cNvSpPr txBox="1"/>
          <p:nvPr/>
        </p:nvSpPr>
        <p:spPr>
          <a:xfrm>
            <a:off x="6309360"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Chỉ lưu trữ thông tin nguồn có viết, và lưu kèm câu gốc.</a:t>
            </a:r>
          </a:p>
          <a:p>
            <a:pPr algn="l">
              <a:spcBef>
                <a:spcPts val="0"/>
              </a:spcBef>
              <a:spcAft>
                <a:spcPts val="800"/>
              </a:spcAft>
            </a:pPr>
            <a:r>
              <a:rPr sz="1600" b="0" i="0">
                <a:solidFill>
                  <a:srgbClr val="1A1A1A"/>
                </a:solidFill>
                <a:latin typeface="Arial"/>
                <a:ea typeface="Arial"/>
                <a:cs typeface="Arial"/>
              </a:rPr>
              <a:t>• Xác định các đoạn sử liệu cùng chủ thể và gộp về chung một định danh.</a:t>
            </a:r>
          </a:p>
          <a:p>
            <a:pPr algn="l">
              <a:spcBef>
                <a:spcPts val="0"/>
              </a:spcBef>
              <a:spcAft>
                <a:spcPts val="800"/>
              </a:spcAft>
            </a:pPr>
            <a:r>
              <a:rPr sz="1600" b="0" i="0">
                <a:solidFill>
                  <a:srgbClr val="1A1A1A"/>
                </a:solidFill>
                <a:latin typeface="Arial"/>
                <a:ea typeface="Arial"/>
                <a:cs typeface="Arial"/>
              </a:rPr>
              <a:t>• Hai nguồn không bị trộn thành một câu. Tránh việc gây ra ảo giác 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B · Đồ án</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Mục tiêu đồ án</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12 / 21</a:t>
            </a:r>
          </a:p>
        </p:txBody>
      </p:sp>
      <p:graphicFrame>
        <p:nvGraphicFramePr>
          <p:cNvPr id="7" name="Table 6"/>
          <p:cNvGraphicFramePr>
            <a:graphicFrameLocks noGrp="1"/>
          </p:cNvGraphicFramePr>
          <p:nvPr/>
        </p:nvGraphicFramePr>
        <p:xfrm>
          <a:off x="438912" y="1024128"/>
          <a:ext cx="11311126" cy="1536192"/>
        </p:xfrm>
        <a:graphic>
          <a:graphicData uri="http://schemas.openxmlformats.org/drawingml/2006/table">
            <a:tbl>
              <a:tblPr firstRow="1" bandRow="1">
                <a:tableStyleId>{5C22544A-7EE6-4342-B048-85BDC9FD1C3A}</a:tableStyleId>
              </a:tblPr>
              <a:tblGrid>
                <a:gridCol w="1280722"/>
                <a:gridCol w="1280722"/>
                <a:gridCol w="8749682"/>
              </a:tblGrid>
              <a:tr h="384048">
                <a:tc>
                  <a:txBody>
                    <a:bodyPr wrap="square"/>
                    <a:lstStyle/>
                    <a:p>
                      <a:pPr algn="ctr"/>
                      <a:r>
                        <a:rPr sz="1200" b="1" i="0">
                          <a:solidFill>
                            <a:srgbClr val="FFFFFF"/>
                          </a:solidFill>
                          <a:latin typeface="Arial"/>
                          <a:ea typeface="Arial"/>
                          <a:cs typeface="Arial"/>
                        </a:rPr>
                        <a:t>Mục tiêu</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Tuần</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Việc phải xong</a:t>
                      </a:r>
                    </a:p>
                  </a:txBody>
                  <a:tcPr anchor="ctr" marL="54864" marR="54864" marT="27432" marB="27432">
                    <a:solidFill>
                      <a:srgbClr val="1F3864"/>
                    </a:solidFill>
                  </a:tcPr>
                </a:tc>
              </a:tr>
              <a:tr h="384048">
                <a:tc>
                  <a:txBody>
                    <a:bodyPr wrap="square"/>
                    <a:lstStyle/>
                    <a:p>
                      <a:pPr algn="l"/>
                      <a:r>
                        <a:rPr sz="1200" b="0" i="0">
                          <a:solidFill>
                            <a:srgbClr val="1A1A1A"/>
                          </a:solidFill>
                          <a:latin typeface="Arial"/>
                          <a:ea typeface="Arial"/>
                          <a:cs typeface="Arial"/>
                        </a:rPr>
                        <a:t>O1</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1–3</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Schema tám chủ thể, mã mờ, master registry, ba database</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O2</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4–8</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Các API, pipeline trích xuất, khử trùng lặp danh xưng, nạp graph, demo</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O3</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9–12</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Gold set do con người gắn nhãn; đo độ khớp F1 và precision trên test set; luận văn và slide</a:t>
                      </a:r>
                    </a:p>
                  </a:txBody>
                  <a:tcPr anchor="ct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C · Giải pháp</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Hệ thống chủ thể và từ khóa</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13 / 21</a:t>
            </a:r>
          </a:p>
        </p:txBody>
      </p:sp>
      <p:graphicFrame>
        <p:nvGraphicFramePr>
          <p:cNvPr id="7" name="Table 6"/>
          <p:cNvGraphicFramePr>
            <a:graphicFrameLocks noGrp="1"/>
          </p:cNvGraphicFramePr>
          <p:nvPr/>
        </p:nvGraphicFramePr>
        <p:xfrm>
          <a:off x="438912" y="1024128"/>
          <a:ext cx="11311124" cy="3456432"/>
        </p:xfrm>
        <a:graphic>
          <a:graphicData uri="http://schemas.openxmlformats.org/drawingml/2006/table">
            <a:tbl>
              <a:tblPr firstRow="1" bandRow="1">
                <a:tableStyleId>{5C22544A-7EE6-4342-B048-85BDC9FD1C3A}</a:tableStyleId>
              </a:tblPr>
              <a:tblGrid>
                <a:gridCol w="2150404"/>
                <a:gridCol w="1354754"/>
                <a:gridCol w="1354754"/>
                <a:gridCol w="2822405"/>
                <a:gridCol w="3628807"/>
              </a:tblGrid>
              <a:tr h="384048">
                <a:tc>
                  <a:txBody>
                    <a:bodyPr wrap="square"/>
                    <a:lstStyle/>
                    <a:p>
                      <a:pPr algn="ctr"/>
                      <a:r>
                        <a:rPr sz="1200" b="1" i="0">
                          <a:solidFill>
                            <a:srgbClr val="FFFFFF"/>
                          </a:solidFill>
                          <a:latin typeface="Arial"/>
                          <a:ea typeface="Arial"/>
                          <a:cs typeface="Arial"/>
                        </a:rPr>
                        <a:t>Câu hỏi</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Chủ thể</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Mẫu mã</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Trường phân loại</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Ví dụ</a:t>
                      </a:r>
                    </a:p>
                  </a:txBody>
                  <a:tcPr anchor="ctr" marL="54864" marR="54864" marT="27432" marB="27432">
                    <a:solidFill>
                      <a:srgbClr val="1F3864"/>
                    </a:solidFill>
                  </a:tcPr>
                </a:tc>
              </a:tr>
              <a:tr h="384048">
                <a:tc>
                  <a:txBody>
                    <a:bodyPr wrap="square"/>
                    <a:lstStyle/>
                    <a:p>
                      <a:pPr algn="l"/>
                      <a:r>
                        <a:rPr sz="1200" b="0" i="0">
                          <a:solidFill>
                            <a:srgbClr val="1A1A1A"/>
                          </a:solidFill>
                          <a:latin typeface="Arial"/>
                          <a:ea typeface="Arial"/>
                          <a:cs typeface="Arial"/>
                        </a:rPr>
                        <a:t>Ai</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Person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P + 5 số</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historical_role_class</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Trần Quốc Tuấn</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Ai, phe nào</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Group</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GRP + 4 số</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group_type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Triều Trần, quân Nguyên</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Việc gì, thế nào</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Event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EV + 5 số</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event_type</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Trận Bạch Đằng 1288</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Ở đâu</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Place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LOC + 4 số</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spatial_category</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Sông Bạch Đằng</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Khi nào</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TimeSpan</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TIM + 4 số</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temporal_granularity</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Năm 1288, Mậu Tý</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Bằng gì</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Artifact</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ART + 4 số</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artifact_type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Bãi cọc Yên Giang</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Vì sao, kế gì</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Concept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CON + 4 số</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concept_category</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Cọc ngầm kết hợp thủy triều</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Dựa vào đâu</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Source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SRC + 4 số</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source_perspective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Toàn thư, Nguyên sử</a:t>
                      </a:r>
                    </a:p>
                  </a:txBody>
                  <a:tcPr anchor="ctr" marL="54864" marR="54864" marT="27432" marB="27432">
                    <a:solidFill>
                      <a:srgbClr val="F4F7FB"/>
                    </a:solidFill>
                  </a:tcPr>
                </a:tc>
              </a:tr>
            </a:tbl>
          </a:graphicData>
        </a:graphic>
      </p:graphicFrame>
      <p:sp>
        <p:nvSpPr>
          <p:cNvPr id="8" name="TextBox 7"/>
          <p:cNvSpPr txBox="1"/>
          <p:nvPr/>
        </p:nvSpPr>
        <p:spPr>
          <a:xfrm>
            <a:off x="438912" y="4590288"/>
            <a:ext cx="11311128" cy="1380744"/>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Tám chủ thể là cố định. Mỗi chủ thể có một bộ từ khóa riêng, có thể bổ sung khi làm dữ liệu thật.</a:t>
            </a:r>
          </a:p>
          <a:p>
            <a:pPr algn="l">
              <a:spcBef>
                <a:spcPts val="0"/>
              </a:spcBef>
              <a:spcAft>
                <a:spcPts val="800"/>
              </a:spcAft>
            </a:pPr>
            <a:r>
              <a:rPr sz="1800" b="0" i="0">
                <a:solidFill>
                  <a:srgbClr val="1A1A1A"/>
                </a:solidFill>
                <a:latin typeface="Arial"/>
                <a:ea typeface="Arial"/>
                <a:cs typeface="Arial"/>
              </a:rPr>
              <a:t>• Mã là khóa mờ do PostgreSQL cấp, không chứa tên hay năm. Trường phân loại là danh mục đóng, nhãn ngoài danh mục thì bị từ chối.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C · Giải pháp</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Ví dụ kết quả trích xuất: Bạch Đằng 1288</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14 / 21</a:t>
            </a:r>
          </a:p>
        </p:txBody>
      </p:sp>
      <p:graphicFrame>
        <p:nvGraphicFramePr>
          <p:cNvPr id="7" name="Table 6"/>
          <p:cNvGraphicFramePr>
            <a:graphicFrameLocks noGrp="1"/>
          </p:cNvGraphicFramePr>
          <p:nvPr/>
        </p:nvGraphicFramePr>
        <p:xfrm>
          <a:off x="438912" y="1024128"/>
          <a:ext cx="11311127" cy="2304288"/>
        </p:xfrm>
        <a:graphic>
          <a:graphicData uri="http://schemas.openxmlformats.org/drawingml/2006/table">
            <a:tbl>
              <a:tblPr firstRow="1" bandRow="1">
                <a:tableStyleId>{5C22544A-7EE6-4342-B048-85BDC9FD1C3A}</a:tableStyleId>
              </a:tblPr>
              <a:tblGrid>
                <a:gridCol w="1315672"/>
                <a:gridCol w="1315672"/>
                <a:gridCol w="8679783"/>
              </a:tblGrid>
              <a:tr h="384048">
                <a:tc>
                  <a:txBody>
                    <a:bodyPr wrap="square"/>
                    <a:lstStyle/>
                    <a:p>
                      <a:pPr algn="ctr"/>
                      <a:r>
                        <a:rPr sz="1200" b="1" i="0">
                          <a:solidFill>
                            <a:srgbClr val="FFFFFF"/>
                          </a:solidFill>
                          <a:latin typeface="Arial"/>
                          <a:ea typeface="Arial"/>
                          <a:cs typeface="Arial"/>
                        </a:rPr>
                        <a:t>Chủ thể</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Mã</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Một số từ khóa có giá trị</a:t>
                      </a:r>
                    </a:p>
                  </a:txBody>
                  <a:tcPr anchor="ctr" marL="54864" marR="54864" marT="27432" marB="27432">
                    <a:solidFill>
                      <a:srgbClr val="1F3864"/>
                    </a:solidFill>
                  </a:tcPr>
                </a:tc>
              </a:tr>
              <a:tr h="384048">
                <a:tc>
                  <a:txBody>
                    <a:bodyPr wrap="square"/>
                    <a:lstStyle/>
                    <a:p>
                      <a:pPr algn="l"/>
                      <a:r>
                        <a:rPr sz="1200" b="0" i="0">
                          <a:solidFill>
                            <a:srgbClr val="1A1A1A"/>
                          </a:solidFill>
                          <a:latin typeface="Arial"/>
                          <a:ea typeface="Arial"/>
                          <a:cs typeface="Arial"/>
                        </a:rPr>
                        <a:t>Event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EV00001</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Tên, loại MilitaryBattle, mốc đầu 1288; mốc cuối để null nếu nguồn không ghi</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Person</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P00001</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Tên chính Trần Quốc Tuấn; danh xưng gặp trong đoạn: Hưng Đạo Vương</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Group</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GRP0002</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Tên quân Nguyên, loại MilitaryForce</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Place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LOC0001</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Tên lịch sử sông Bạch Đằng, loại Battlefield</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Source</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SRC0001</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Tên nguồn, đoạn trích và vị trí</a:t>
                      </a:r>
                    </a:p>
                  </a:txBody>
                  <a:tcPr anchor="ctr" marL="54864" marR="54864" marT="27432" marB="27432">
                    <a:solidFill>
                      <a:srgbClr val="FFFFFF"/>
                    </a:solidFill>
                  </a:tcPr>
                </a:tc>
              </a:tr>
            </a:tbl>
          </a:graphicData>
        </a:graphic>
      </p:graphicFrame>
      <p:sp>
        <p:nvSpPr>
          <p:cNvPr id="8" name="TextBox 7"/>
          <p:cNvSpPr txBox="1"/>
          <p:nvPr/>
        </p:nvSpPr>
        <p:spPr>
          <a:xfrm>
            <a:off x="438912" y="3438144"/>
            <a:ext cx="11311128" cy="2071116"/>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Quan hệ đọc theo mũi tên: Trần Quốc Tuấn -&gt; COMMANDED -&gt; trận (chỉ huy); quân Nguyên -&gt; OPPOSED_IN -&gt; trận (đối địch); trận -&gt; TOOK_PLACE_AT -&gt; sông Bạch Đằng (xảy ra tại); Toàn thư -&gt; SUPPORTS -&gt; trận (dẫn nguồn).</a:t>
            </a:r>
          </a:p>
          <a:p>
            <a:pPr algn="l">
              <a:spcBef>
                <a:spcPts val="0"/>
              </a:spcBef>
              <a:spcAft>
                <a:spcPts val="800"/>
              </a:spcAft>
            </a:pPr>
            <a:r>
              <a:rPr sz="1800" b="0" i="0">
                <a:solidFill>
                  <a:srgbClr val="1A1A1A"/>
                </a:solidFill>
                <a:latin typeface="Arial"/>
                <a:ea typeface="Arial"/>
                <a:cs typeface="Arial"/>
              </a:rPr>
              <a:t>• Nguồn không nói tới thì để trống, ghi null. Kết quả và ý nghĩa của trận chỉ ghi khi nguồn có viết.</a:t>
            </a:r>
          </a:p>
          <a:p>
            <a:pPr algn="l">
              <a:spcBef>
                <a:spcPts val="0"/>
              </a:spcBef>
              <a:spcAft>
                <a:spcPts val="800"/>
              </a:spcAft>
            </a:pPr>
            <a:r>
              <a:rPr sz="1800" b="0" i="0">
                <a:solidFill>
                  <a:srgbClr val="1A1A1A"/>
                </a:solidFill>
                <a:latin typeface="Arial"/>
                <a:ea typeface="Arial"/>
                <a:cs typeface="Arial"/>
              </a:rPr>
              <a:t>• Bảng là ví dụ thiết kế, chưa phải kết quả mô hình đã chạy.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C · Giải pháp</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Quan hệ trên knowledge graph và ràng buộc</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15 / 21</a:t>
            </a:r>
          </a:p>
        </p:txBody>
      </p:sp>
      <p:sp>
        <p:nvSpPr>
          <p:cNvPr id="7" name="TextBox 6"/>
          <p:cNvSpPr txBox="1"/>
          <p:nvPr/>
        </p:nvSpPr>
        <p:spPr>
          <a:xfrm>
            <a:off x="438912" y="1024128"/>
            <a:ext cx="11311128" cy="2745486"/>
          </a:xfrm>
          <a:prstGeom prst="rect">
            <a:avLst/>
          </a:prstGeom>
          <a:noFill/>
        </p:spPr>
        <p:txBody>
          <a:bodyPr wrap="square" lIns="0" rIns="0" tIns="0" bIns="0"/>
          <a:lstStyle/>
          <a:p>
            <a:pPr algn="l">
              <a:spcBef>
                <a:spcPts val="0"/>
              </a:spcBef>
              <a:spcAft>
                <a:spcPts val="400"/>
              </a:spcAft>
            </a:pPr>
            <a:r>
              <a:rPr sz="1400" b="0" i="0">
                <a:solidFill>
                  <a:srgbClr val="1A1A1A"/>
                </a:solidFill>
                <a:latin typeface="Arial"/>
                <a:ea typeface="Arial"/>
                <a:cs typeface="Arial"/>
              </a:rPr>
              <a:t>• Quan hệ chính: COMMANDED, PARTICIPATED_IN, OPPOSED_IN, TOOK_PLACE_AT, OCCURRED_DURING, EMPLOYED_STRATEGY, LEFT_HERITAGE, SUPPORTS.</a:t>
            </a:r>
          </a:p>
          <a:p>
            <a:pPr algn="l">
              <a:spcBef>
                <a:spcPts val="0"/>
              </a:spcBef>
              <a:spcAft>
                <a:spcPts val="400"/>
              </a:spcAft>
            </a:pPr>
            <a:r>
              <a:rPr sz="1400" b="0" i="0">
                <a:solidFill>
                  <a:srgbClr val="1A1A1A"/>
                </a:solidFill>
                <a:latin typeface="Arial"/>
                <a:ea typeface="Arial"/>
                <a:cs typeface="Arial"/>
              </a:rPr>
              <a:t>• Mỗi quan hệ chỉ nối đúng cặp chủ thể, ví dụ COMMANDED đi từ Person tới Event. Sai cặp thì bị từ chối.</a:t>
            </a:r>
          </a:p>
          <a:p>
            <a:pPr algn="l">
              <a:spcBef>
                <a:spcPts val="0"/>
              </a:spcBef>
              <a:spcAft>
                <a:spcPts val="400"/>
              </a:spcAft>
            </a:pPr>
            <a:r>
              <a:rPr sz="1400" b="0" i="0">
                <a:solidFill>
                  <a:srgbClr val="1A1A1A"/>
                </a:solidFill>
                <a:latin typeface="Arial"/>
                <a:ea typeface="Arial"/>
                <a:cs typeface="Arial"/>
              </a:rPr>
              <a:t>• Ràng buộc trong đồ án:</a:t>
            </a:r>
          </a:p>
          <a:p>
            <a:pPr algn="l" lvl="1">
              <a:spcBef>
                <a:spcPts val="0"/>
              </a:spcBef>
              <a:spcAft>
                <a:spcPts val="400"/>
              </a:spcAft>
            </a:pPr>
            <a:r>
              <a:rPr sz="1400" b="0" i="0">
                <a:solidFill>
                  <a:srgbClr val="1A1A1A"/>
                </a:solidFill>
                <a:latin typeface="Arial"/>
                <a:ea typeface="Arial"/>
                <a:cs typeface="Arial"/>
              </a:rPr>
              <a:t>– Bản ghi đã xác nhận phải có quan hệ SUPPORTS từ ít nhất một Source.</a:t>
            </a:r>
          </a:p>
          <a:p>
            <a:pPr algn="l" lvl="1">
              <a:spcBef>
                <a:spcPts val="0"/>
              </a:spcBef>
              <a:spcAft>
                <a:spcPts val="400"/>
              </a:spcAft>
            </a:pPr>
            <a:r>
              <a:rPr sz="1400" b="0" i="0">
                <a:solidFill>
                  <a:srgbClr val="1A1A1A"/>
                </a:solidFill>
                <a:latin typeface="Arial"/>
                <a:ea typeface="Arial"/>
                <a:cs typeface="Arial"/>
              </a:rPr>
              <a:t>– Kiểm niên đại: nhân vật không thể tham gia sự kiện ngoài khoảng sinh và mất; vi phạm thì gắn FLAGGED.</a:t>
            </a:r>
          </a:p>
          <a:p>
            <a:pPr algn="l" lvl="1">
              <a:spcBef>
                <a:spcPts val="0"/>
              </a:spcBef>
              <a:spcAft>
                <a:spcPts val="400"/>
              </a:spcAft>
            </a:pPr>
            <a:r>
              <a:rPr sz="1400" b="0" i="0">
                <a:solidFill>
                  <a:srgbClr val="1A1A1A"/>
                </a:solidFill>
                <a:latin typeface="Arial"/>
                <a:ea typeface="Arial"/>
                <a:cs typeface="Arial"/>
              </a:rPr>
              <a:t>– Một thực thể chỉ có một mã.</a:t>
            </a:r>
          </a:p>
          <a:p>
            <a:pPr algn="l" lvl="1">
              <a:spcBef>
                <a:spcPts val="0"/>
              </a:spcBef>
              <a:spcAft>
                <a:spcPts val="400"/>
              </a:spcAft>
            </a:pPr>
            <a:r>
              <a:rPr sz="1400" b="0" i="0">
                <a:solidFill>
                  <a:srgbClr val="1A1A1A"/>
                </a:solidFill>
                <a:latin typeface="Arial"/>
                <a:ea typeface="Arial"/>
                <a:cs typeface="Arial"/>
              </a:rPr>
              <a:t>– Trường modern_name của địa danh điền tay.</a:t>
            </a:r>
          </a:p>
          <a:p>
            <a:pPr algn="l">
              <a:spcBef>
                <a:spcPts val="0"/>
              </a:spcBef>
              <a:spcAft>
                <a:spcPts val="400"/>
              </a:spcAft>
            </a:pPr>
            <a:r>
              <a:rPr sz="1400" b="0" i="0">
                <a:solidFill>
                  <a:srgbClr val="1A1A1A"/>
                </a:solidFill>
                <a:latin typeface="Arial"/>
                <a:ea typeface="Arial"/>
                <a:cs typeface="Arial"/>
              </a:rPr>
              <a:t>• Ghi dị bản giữa hai nguồn để cuối Phase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C · Giải pháp</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Pipeline bốn bước</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16 / 21</a:t>
            </a:r>
          </a:p>
        </p:txBody>
      </p:sp>
      <p:sp>
        <p:nvSpPr>
          <p:cNvPr id="7" name="TextBox 6"/>
          <p:cNvSpPr txBox="1"/>
          <p:nvPr/>
        </p:nvSpPr>
        <p:spPr>
          <a:xfrm>
            <a:off x="438912" y="1024128"/>
            <a:ext cx="11311128" cy="2452878"/>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1. Tiếp nhận: lưu văn bản gốc kèm source_id và mã hash để không nhận trùng.</a:t>
            </a:r>
          </a:p>
          <a:p>
            <a:pPr algn="l">
              <a:spcBef>
                <a:spcPts val="0"/>
              </a:spcBef>
              <a:spcAft>
                <a:spcPts val="800"/>
              </a:spcAft>
            </a:pPr>
            <a:r>
              <a:rPr sz="1800" b="0" i="0">
                <a:solidFill>
                  <a:srgbClr val="1A1A1A"/>
                </a:solidFill>
                <a:latin typeface="Arial"/>
                <a:ea typeface="Arial"/>
                <a:cs typeface="Arial"/>
              </a:rPr>
              <a:t>2. Trích xuất: LLM trả về bản ghi chủ thể và quan hệ theo schema, mỗi giá trị kèm đoạn trích và vị trí ký tự. Sai schema thì bị từ chối.</a:t>
            </a:r>
          </a:p>
          <a:p>
            <a:pPr algn="l">
              <a:spcBef>
                <a:spcPts val="0"/>
              </a:spcBef>
              <a:spcAft>
                <a:spcPts val="800"/>
              </a:spcAft>
            </a:pPr>
            <a:r>
              <a:rPr sz="1800" b="0" i="0">
                <a:solidFill>
                  <a:srgbClr val="1A1A1A"/>
                </a:solidFill>
                <a:latin typeface="Arial"/>
                <a:ea typeface="Arial"/>
                <a:cs typeface="Arial"/>
              </a:rPr>
              <a:t>3. Khử trùng lặp danh xưng cho Person, Group, Place: tra entity_aliases trên PostgreSQL; chưa chắc thì đo string similarity (threshold khởi điểm khoảng 82%, tinh chỉnh trên dev set) và so embedding; dưới threshold thì FLAGGED. Mã mới do sequence cấp.</a:t>
            </a:r>
          </a:p>
          <a:p>
            <a:pPr algn="l">
              <a:spcBef>
                <a:spcPts val="0"/>
              </a:spcBef>
              <a:spcAft>
                <a:spcPts val="800"/>
              </a:spcAft>
            </a:pPr>
            <a:r>
              <a:rPr sz="1800" b="0" i="0">
                <a:solidFill>
                  <a:srgbClr val="1A1A1A"/>
                </a:solidFill>
                <a:latin typeface="Arial"/>
                <a:ea typeface="Arial"/>
                <a:cs typeface="Arial"/>
              </a:rPr>
              <a:t>4. Nạp graph: nạp theo batch bằng MERGE trên mã đã cấp, cùng mã thì cập nhật, không nhân đôi.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C · Giải pháp</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Kiến trúc và công nghệ</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17 / 21</a:t>
            </a:r>
          </a:p>
        </p:txBody>
      </p:sp>
      <p:graphicFrame>
        <p:nvGraphicFramePr>
          <p:cNvPr id="7" name="Table 6"/>
          <p:cNvGraphicFramePr>
            <a:graphicFrameLocks noGrp="1"/>
          </p:cNvGraphicFramePr>
          <p:nvPr/>
        </p:nvGraphicFramePr>
        <p:xfrm>
          <a:off x="438912" y="1024128"/>
          <a:ext cx="11311126" cy="3456432"/>
        </p:xfrm>
        <a:graphic>
          <a:graphicData uri="http://schemas.openxmlformats.org/drawingml/2006/table">
            <a:tbl>
              <a:tblPr firstRow="1" bandRow="1">
                <a:tableStyleId>{5C22544A-7EE6-4342-B048-85BDC9FD1C3A}</a:tableStyleId>
              </a:tblPr>
              <a:tblGrid>
                <a:gridCol w="2447930"/>
                <a:gridCol w="4473804"/>
                <a:gridCol w="4389392"/>
              </a:tblGrid>
              <a:tr h="384048">
                <a:tc>
                  <a:txBody>
                    <a:bodyPr wrap="square"/>
                    <a:lstStyle/>
                    <a:p>
                      <a:pPr algn="ctr"/>
                      <a:r>
                        <a:rPr sz="1200" b="1" i="0">
                          <a:solidFill>
                            <a:srgbClr val="FFFFFF"/>
                          </a:solidFill>
                          <a:latin typeface="Arial"/>
                          <a:ea typeface="Arial"/>
                          <a:cs typeface="Arial"/>
                        </a:rPr>
                        <a:t>Thành phần</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Công nghệ</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Vai trò trong đồ án</a:t>
                      </a:r>
                    </a:p>
                  </a:txBody>
                  <a:tcPr anchor="ctr" marL="54864" marR="54864" marT="27432" marB="27432">
                    <a:solidFill>
                      <a:srgbClr val="1F3864"/>
                    </a:solidFill>
                  </a:tcPr>
                </a:tc>
              </a:tr>
              <a:tr h="384048">
                <a:tc>
                  <a:txBody>
                    <a:bodyPr wrap="square"/>
                    <a:lstStyle/>
                    <a:p>
                      <a:pPr algn="l"/>
                      <a:r>
                        <a:rPr sz="1200" b="0" i="0">
                          <a:solidFill>
                            <a:srgbClr val="1A1A1A"/>
                          </a:solidFill>
                          <a:latin typeface="Arial"/>
                          <a:ea typeface="Arial"/>
                          <a:cs typeface="Arial"/>
                        </a:rPr>
                        <a:t>Backend, API và schema</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Python 3.12, FastAPI, Pydantic</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Bốn API, từ chối kết quả sai schema</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Graph database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Neo4j 5</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Bắt buộc có dữ liệu demo</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Vector database</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ChromaDB</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Dựng sẵn schema và vài bản ghi mẫu</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Master registry, nguồn và log</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PostgreSQL 16</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Cấp mã mờ, tra danh xưng, giữ văn bản gốc và log nạp</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Trích xuất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LLM có structured output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Tên mô hình ghi trong báo cáo</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So danh xưng</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Embedding model tiếng Việt (PhoBERT hoặc tương đương)</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Chỉ để xếp hạng ứng viên</a:t>
                      </a:r>
                    </a:p>
                  </a:txBody>
                  <a:tcPr anchor="ctr" marL="54864" marR="54864" marT="27432" marB="27432">
                    <a:solidFill>
                      <a:srgbClr val="F4F7FB"/>
                    </a:solidFill>
                  </a:tcPr>
                </a:tc>
              </a:tr>
              <a:tr h="384048">
                <a:tc>
                  <a:txBody>
                    <a:bodyPr wrap="square"/>
                    <a:lstStyle/>
                    <a:p>
                      <a:pPr algn="l"/>
                      <a:r>
                        <a:rPr sz="1200" b="0" i="0">
                          <a:solidFill>
                            <a:srgbClr val="1A1A1A"/>
                          </a:solidFill>
                          <a:latin typeface="Arial"/>
                          <a:ea typeface="Arial"/>
                          <a:cs typeface="Arial"/>
                        </a:rPr>
                        <a:t>Demo</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Streamlit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Dán chữ, xem kết quả trích xuất, nạp graph</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Triển khai</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Docker Compose, Git</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Chạy lại được trên máy khác</a:t>
                      </a:r>
                    </a:p>
                  </a:txBody>
                  <a:tcPr anchor="ctr" marL="54864" marR="54864" marT="27432" marB="27432">
                    <a:solidFill>
                      <a:srgbClr val="F4F7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D · Kế hoạch và đánh giá</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Kế hoạch và rủi ro</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18 / 21</a:t>
            </a:r>
          </a:p>
        </p:txBody>
      </p:sp>
      <p:graphicFrame>
        <p:nvGraphicFramePr>
          <p:cNvPr id="7" name="Table 6"/>
          <p:cNvGraphicFramePr>
            <a:graphicFrameLocks noGrp="1"/>
          </p:cNvGraphicFramePr>
          <p:nvPr/>
        </p:nvGraphicFramePr>
        <p:xfrm>
          <a:off x="438912" y="1024128"/>
          <a:ext cx="6812279" cy="2578605"/>
        </p:xfrm>
        <a:graphic>
          <a:graphicData uri="http://schemas.openxmlformats.org/drawingml/2006/table">
            <a:tbl>
              <a:tblPr firstRow="1" bandRow="1">
                <a:tableStyleId>{5C22544A-7EE6-4342-B048-85BDC9FD1C3A}</a:tableStyleId>
              </a:tblPr>
              <a:tblGrid>
                <a:gridCol w="803051"/>
                <a:gridCol w="3004614"/>
                <a:gridCol w="3004614"/>
              </a:tblGrid>
              <a:tr h="384048">
                <a:tc>
                  <a:txBody>
                    <a:bodyPr wrap="square"/>
                    <a:lstStyle/>
                    <a:p>
                      <a:pPr algn="ctr"/>
                      <a:r>
                        <a:rPr sz="1200" b="1" i="0">
                          <a:solidFill>
                            <a:srgbClr val="FFFFFF"/>
                          </a:solidFill>
                          <a:latin typeface="Arial"/>
                          <a:ea typeface="Arial"/>
                          <a:cs typeface="Arial"/>
                        </a:rPr>
                        <a:t>Tuần</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Việc chính</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Xong khi</a:t>
                      </a:r>
                    </a:p>
                  </a:txBody>
                  <a:tcPr anchor="ctr" marL="54864" marR="54864" marT="27432" marB="27432">
                    <a:solidFill>
                      <a:srgbClr val="1F3864"/>
                    </a:solidFill>
                  </a:tcPr>
                </a:tc>
              </a:tr>
              <a:tr h="603503">
                <a:tc>
                  <a:txBody>
                    <a:bodyPr wrap="square"/>
                    <a:lstStyle/>
                    <a:p>
                      <a:pPr algn="l"/>
                      <a:r>
                        <a:rPr sz="1200" b="0" i="0">
                          <a:solidFill>
                            <a:srgbClr val="1A1A1A"/>
                          </a:solidFill>
                          <a:latin typeface="Arial"/>
                          <a:ea typeface="Arial"/>
                          <a:cs typeface="Arial"/>
                        </a:rPr>
                        <a:t>1–3</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Schema, mã mờ, master registry, ba database</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Sequence cấp được mã; bản ghi mẫu trên Neo4j</a:t>
                      </a:r>
                    </a:p>
                  </a:txBody>
                  <a:tcPr anchor="ctr" marL="54864" marR="54864" marT="27432" marB="27432">
                    <a:solidFill>
                      <a:srgbClr val="FFFFFF"/>
                    </a:solidFill>
                  </a:tcPr>
                </a:tc>
              </a:tr>
              <a:tr h="603503">
                <a:tc>
                  <a:txBody>
                    <a:bodyPr wrap="square"/>
                    <a:lstStyle/>
                    <a:p>
                      <a:pPr algn="l"/>
                      <a:r>
                        <a:rPr sz="1200" b="0" i="0">
                          <a:solidFill>
                            <a:srgbClr val="1A1A1A"/>
                          </a:solidFill>
                          <a:latin typeface="Arial"/>
                          <a:ea typeface="Arial"/>
                          <a:cs typeface="Arial"/>
                        </a:rPr>
                        <a:t>4–6</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Bốn API, gold set, họp giữa kỳ</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Bốn endpoint gọi được; schema đóng để đo</a:t>
                      </a:r>
                    </a:p>
                  </a:txBody>
                  <a:tcPr anchor="ctr" marL="54864" marR="54864" marT="27432" marB="27432">
                    <a:solidFill>
                      <a:srgbClr val="F4F7FB"/>
                    </a:solidFill>
                  </a:tcPr>
                </a:tc>
              </a:tr>
              <a:tr h="603503">
                <a:tc>
                  <a:txBody>
                    <a:bodyPr wrap="square"/>
                    <a:lstStyle/>
                    <a:p>
                      <a:pPr algn="l"/>
                      <a:r>
                        <a:rPr sz="1200" b="0" i="0">
                          <a:solidFill>
                            <a:srgbClr val="1A1A1A"/>
                          </a:solidFill>
                          <a:latin typeface="Arial"/>
                          <a:ea typeface="Arial"/>
                          <a:cs typeface="Arial"/>
                        </a:rPr>
                        <a:t>7–9</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Nạp graph, khử trùng lặp danh xưng, demo, đo</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Danh xưng đã có về đúng mã cũ; có bảng số đo</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10–12</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Luận văn và slide</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Bản thảo và slide nộp được</a:t>
                      </a:r>
                    </a:p>
                  </a:txBody>
                  <a:tcPr anchor="ctr" marL="54864" marR="54864" marT="27432" marB="27432">
                    <a:solidFill>
                      <a:srgbClr val="F4F7FB"/>
                    </a:solidFill>
                  </a:tcPr>
                </a:tc>
              </a:tr>
            </a:tbl>
          </a:graphicData>
        </a:graphic>
      </p:graphicFrame>
      <p:sp>
        <p:nvSpPr>
          <p:cNvPr id="8" name="TextBox 7"/>
          <p:cNvSpPr txBox="1"/>
          <p:nvPr/>
        </p:nvSpPr>
        <p:spPr>
          <a:xfrm>
            <a:off x="7452360" y="1024128"/>
            <a:ext cx="4297680" cy="310896"/>
          </a:xfrm>
          <a:prstGeom prst="rect">
            <a:avLst/>
          </a:prstGeom>
          <a:noFill/>
        </p:spPr>
        <p:txBody>
          <a:bodyPr wrap="square" lIns="0" rIns="0" tIns="0" bIns="0"/>
          <a:lstStyle/>
          <a:p>
            <a:r>
              <a:rPr sz="1400" b="1" i="0">
                <a:solidFill>
                  <a:srgbClr val="1F3864"/>
                </a:solidFill>
                <a:latin typeface="Arial"/>
                <a:ea typeface="Arial"/>
                <a:cs typeface="Arial"/>
              </a:rPr>
              <a:t>Rủi ro chính:</a:t>
            </a:r>
          </a:p>
        </p:txBody>
      </p:sp>
      <p:sp>
        <p:nvSpPr>
          <p:cNvPr id="9" name="TextBox 8"/>
          <p:cNvSpPr txBox="1"/>
          <p:nvPr/>
        </p:nvSpPr>
        <p:spPr>
          <a:xfrm>
            <a:off x="7452360" y="1335024"/>
            <a:ext cx="4297680" cy="4626864"/>
          </a:xfrm>
          <a:prstGeom prst="rect">
            <a:avLst/>
          </a:prstGeom>
          <a:noFill/>
        </p:spPr>
        <p:txBody>
          <a:bodyPr wrap="square" lIns="0" rIns="0" tIns="0" bIns="0"/>
          <a:lstStyle/>
          <a:p>
            <a:pPr algn="l">
              <a:spcBef>
                <a:spcPts val="0"/>
              </a:spcBef>
              <a:spcAft>
                <a:spcPts val="400"/>
              </a:spcAft>
            </a:pPr>
            <a:r>
              <a:rPr sz="1400" b="0" i="0">
                <a:solidFill>
                  <a:srgbClr val="1A1A1A"/>
                </a:solidFill>
                <a:latin typeface="Arial"/>
                <a:ea typeface="Arial"/>
                <a:cs typeface="Arial"/>
              </a:rPr>
              <a:t>• Mô hình bỏ sót hoặc trích thêm: từ chối kết quả sai schema, thiếu đoạn trích thì DRAFT.</a:t>
            </a:r>
          </a:p>
          <a:p>
            <a:pPr algn="l">
              <a:spcBef>
                <a:spcPts val="0"/>
              </a:spcBef>
              <a:spcAft>
                <a:spcPts val="400"/>
              </a:spcAft>
            </a:pPr>
            <a:r>
              <a:rPr sz="1400" b="0" i="0">
                <a:solidFill>
                  <a:srgbClr val="1A1A1A"/>
                </a:solidFill>
                <a:latin typeface="Arial"/>
                <a:ea typeface="Arial"/>
                <a:cs typeface="Arial"/>
              </a:rPr>
              <a:t>• Gộp nhầm hai người: threshold tinh chỉnh trên dev set, dưới threshold thì gắn cờ FLAGGED.</a:t>
            </a:r>
          </a:p>
          <a:p>
            <a:pPr algn="l">
              <a:spcBef>
                <a:spcPts val="0"/>
              </a:spcBef>
              <a:spcAft>
                <a:spcPts val="400"/>
              </a:spcAft>
            </a:pPr>
            <a:r>
              <a:rPr sz="1400" b="0" i="0">
                <a:solidFill>
                  <a:srgbClr val="1A1A1A"/>
                </a:solidFill>
                <a:latin typeface="Arial"/>
                <a:ea typeface="Arial"/>
                <a:cs typeface="Arial"/>
              </a:rPr>
              <a:t>• Phạm vi phình sang chatbot: demo chỉ có ba bước, không có ô chat.</a:t>
            </a:r>
          </a:p>
          <a:p>
            <a:pPr algn="l">
              <a:spcBef>
                <a:spcPts val="0"/>
              </a:spcBef>
              <a:spcAft>
                <a:spcPts val="400"/>
              </a:spcAft>
            </a:pPr>
            <a:r>
              <a:rPr sz="1400" b="0" i="0">
                <a:solidFill>
                  <a:srgbClr val="1A1A1A"/>
                </a:solidFill>
                <a:latin typeface="Arial"/>
                <a:ea typeface="Arial"/>
                <a:cs typeface="Arial"/>
              </a:rPr>
              <a:t>• Đổi mô hình giữa chừng: mỗi lần chạy ghi tên mô hình, báo cáo cuối chỉ dùng một cấu hình.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D · Kế hoạch và đánh giá</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Kế hoạch đánh giá</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19 / 21</a:t>
            </a:r>
          </a:p>
        </p:txBody>
      </p:sp>
      <p:graphicFrame>
        <p:nvGraphicFramePr>
          <p:cNvPr id="7" name="Table 6"/>
          <p:cNvGraphicFramePr>
            <a:graphicFrameLocks noGrp="1"/>
          </p:cNvGraphicFramePr>
          <p:nvPr/>
        </p:nvGraphicFramePr>
        <p:xfrm>
          <a:off x="438912" y="1024128"/>
          <a:ext cx="11311127" cy="2359150"/>
        </p:xfrm>
        <a:graphic>
          <a:graphicData uri="http://schemas.openxmlformats.org/drawingml/2006/table">
            <a:tbl>
              <a:tblPr firstRow="1" bandRow="1">
                <a:tableStyleId>{5C22544A-7EE6-4342-B048-85BDC9FD1C3A}</a:tableStyleId>
              </a:tblPr>
              <a:tblGrid>
                <a:gridCol w="2618412"/>
                <a:gridCol w="6421346"/>
                <a:gridCol w="2271369"/>
              </a:tblGrid>
              <a:tr h="384048">
                <a:tc>
                  <a:txBody>
                    <a:bodyPr wrap="square"/>
                    <a:lstStyle/>
                    <a:p>
                      <a:pPr algn="ctr"/>
                      <a:r>
                        <a:rPr sz="1200" b="1" i="0">
                          <a:solidFill>
                            <a:srgbClr val="FFFFFF"/>
                          </a:solidFill>
                          <a:latin typeface="Arial"/>
                          <a:ea typeface="Arial"/>
                          <a:cs typeface="Arial"/>
                        </a:rPr>
                        <a:t>Chỉ số</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Cách tính</a:t>
                      </a:r>
                    </a:p>
                  </a:txBody>
                  <a:tcPr anchor="ctr" marL="54864" marR="54864" marT="27432" marB="27432">
                    <a:solidFill>
                      <a:srgbClr val="1F3864"/>
                    </a:solidFill>
                  </a:tcPr>
                </a:tc>
                <a:tc>
                  <a:txBody>
                    <a:bodyPr wrap="square"/>
                    <a:lstStyle/>
                    <a:p>
                      <a:pPr algn="ctr"/>
                      <a:r>
                        <a:rPr sz="1200" b="1" i="0">
                          <a:solidFill>
                            <a:srgbClr val="FFFFFF"/>
                          </a:solidFill>
                          <a:latin typeface="Arial"/>
                          <a:ea typeface="Arial"/>
                          <a:cs typeface="Arial"/>
                        </a:rPr>
                        <a:t>Đích</a:t>
                      </a:r>
                    </a:p>
                  </a:txBody>
                  <a:tcPr anchor="ctr" marL="54864" marR="54864" marT="27432" marB="27432">
                    <a:solidFill>
                      <a:srgbClr val="1F3864"/>
                    </a:solidFill>
                  </a:tcPr>
                </a:tc>
              </a:tr>
              <a:tr h="603503">
                <a:tc>
                  <a:txBody>
                    <a:bodyPr wrap="square"/>
                    <a:lstStyle/>
                    <a:p>
                      <a:pPr algn="l"/>
                      <a:r>
                        <a:rPr sz="1200" b="0" i="0">
                          <a:solidFill>
                            <a:srgbClr val="1A1A1A"/>
                          </a:solidFill>
                          <a:latin typeface="Arial"/>
                          <a:ea typeface="Arial"/>
                          <a:cs typeface="Arial"/>
                        </a:rPr>
                        <a:t>Độ khớp F1 theo từ khóa</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So từng từ khóa của từng bản ghi chủ thể với gold set, phải kèm đoạn trích đúng; báo riêng từng chủ thể</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85% đến 90%</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Độ khớp F1 theo quan hệ</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Đúng mã đầu, loại quan hệ, mã cuối và có đoạn trích</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75% đến 85%</a:t>
                      </a:r>
                    </a:p>
                  </a:txBody>
                  <a:tcPr anchor="ctr" marL="54864" marR="54864" marT="27432" marB="27432">
                    <a:solidFill>
                      <a:srgbClr val="F4F7FB"/>
                    </a:solidFill>
                  </a:tcPr>
                </a:tc>
              </a:tr>
              <a:tr h="603503">
                <a:tc>
                  <a:txBody>
                    <a:bodyPr wrap="square"/>
                    <a:lstStyle/>
                    <a:p>
                      <a:pPr algn="l"/>
                      <a:r>
                        <a:rPr sz="1200" b="0" i="0">
                          <a:solidFill>
                            <a:srgbClr val="1A1A1A"/>
                          </a:solidFill>
                          <a:latin typeface="Arial"/>
                          <a:ea typeface="Arial"/>
                          <a:cs typeface="Arial"/>
                        </a:rPr>
                        <a:t>Precision của bước khử trùng lặp danh xưng</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Chỉ tính các ca hệ thống tự quyết</a:t>
                      </a:r>
                    </a:p>
                  </a:txBody>
                  <a:tcPr anchor="ctr" marL="54864" marR="54864" marT="27432" marB="27432">
                    <a:solidFill>
                      <a:srgbClr val="FFFFFF"/>
                    </a:solidFill>
                  </a:tcPr>
                </a:tc>
                <a:tc>
                  <a:txBody>
                    <a:bodyPr wrap="square"/>
                    <a:lstStyle/>
                    <a:p>
                      <a:pPr algn="l"/>
                      <a:r>
                        <a:rPr sz="1200" b="0" i="0">
                          <a:solidFill>
                            <a:srgbClr val="1A1A1A"/>
                          </a:solidFill>
                          <a:latin typeface="Arial"/>
                          <a:ea typeface="Arial"/>
                          <a:cs typeface="Arial"/>
                        </a:rPr>
                        <a:t>90% đến 95%</a:t>
                      </a:r>
                    </a:p>
                  </a:txBody>
                  <a:tcPr anchor="ctr" marL="54864" marR="54864" marT="27432" marB="27432">
                    <a:solidFill>
                      <a:srgbClr val="FFFFFF"/>
                    </a:solidFill>
                  </a:tcPr>
                </a:tc>
              </a:tr>
              <a:tr h="384048">
                <a:tc>
                  <a:txBody>
                    <a:bodyPr wrap="square"/>
                    <a:lstStyle/>
                    <a:p>
                      <a:pPr algn="l"/>
                      <a:r>
                        <a:rPr sz="1200" b="0" i="0">
                          <a:solidFill>
                            <a:srgbClr val="1A1A1A"/>
                          </a:solidFill>
                          <a:latin typeface="Arial"/>
                          <a:ea typeface="Arial"/>
                          <a:cs typeface="Arial"/>
                        </a:rPr>
                        <a:t>Thời gian trích xuất</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Từ khi nhận chữ đến khi có kết quả đúng schema</a:t>
                      </a:r>
                    </a:p>
                  </a:txBody>
                  <a:tcPr anchor="ctr" marL="54864" marR="54864" marT="27432" marB="27432">
                    <a:solidFill>
                      <a:srgbClr val="F4F7FB"/>
                    </a:solidFill>
                  </a:tcPr>
                </a:tc>
                <a:tc>
                  <a:txBody>
                    <a:bodyPr wrap="square"/>
                    <a:lstStyle/>
                    <a:p>
                      <a:pPr algn="l"/>
                      <a:r>
                        <a:rPr sz="1200" b="0" i="0">
                          <a:solidFill>
                            <a:srgbClr val="1A1A1A"/>
                          </a:solidFill>
                          <a:latin typeface="Arial"/>
                          <a:ea typeface="Arial"/>
                          <a:cs typeface="Arial"/>
                        </a:rPr>
                        <a:t>Dưới 3 đến 5 giây mỗi trang</a:t>
                      </a:r>
                    </a:p>
                  </a:txBody>
                  <a:tcPr anchor="ctr" marL="54864" marR="54864" marT="27432" marB="27432">
                    <a:solidFill>
                      <a:srgbClr val="F4F7FB"/>
                    </a:solidFill>
                  </a:tcPr>
                </a:tc>
              </a:tr>
            </a:tbl>
          </a:graphicData>
        </a:graphic>
      </p:graphicFrame>
      <p:sp>
        <p:nvSpPr>
          <p:cNvPr id="8" name="TextBox 7"/>
          <p:cNvSpPr txBox="1"/>
          <p:nvPr/>
        </p:nvSpPr>
        <p:spPr>
          <a:xfrm>
            <a:off x="438912" y="3493007"/>
            <a:ext cx="11311128" cy="2286000"/>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Các con số là đích đặt ra, chưa phải kết quả đã đo.</a:t>
            </a:r>
          </a:p>
          <a:p>
            <a:pPr algn="l">
              <a:spcBef>
                <a:spcPts val="0"/>
              </a:spcBef>
              <a:spcAft>
                <a:spcPts val="800"/>
              </a:spcAft>
            </a:pPr>
            <a:r>
              <a:rPr sz="1600" b="0" i="0">
                <a:solidFill>
                  <a:srgbClr val="1A1A1A"/>
                </a:solidFill>
                <a:latin typeface="Arial"/>
                <a:ea typeface="Arial"/>
                <a:cs typeface="Arial"/>
              </a:rPr>
              <a:t>• Gold set do người gắn nhãn, không nhìn kết quả mô hình. Tách dev set và test set. Test set chỉ dùng một lần.</a:t>
            </a:r>
          </a:p>
          <a:p>
            <a:pPr algn="l">
              <a:spcBef>
                <a:spcPts val="0"/>
              </a:spcBef>
              <a:spcAft>
                <a:spcPts val="800"/>
              </a:spcAft>
            </a:pPr>
            <a:r>
              <a:rPr sz="1600" b="0" i="0">
                <a:solidFill>
                  <a:srgbClr val="1A1A1A"/>
                </a:solidFill>
                <a:latin typeface="Arial"/>
                <a:ea typeface="Arial"/>
                <a:cs typeface="Arial"/>
              </a:rPr>
              <a:t>• Khớp từ khóa khi cùng giá trị và có đúng đoạn trích. Thừa, thiếu và null được tính riêng. Báo riêng từng chủ thể.</a:t>
            </a:r>
          </a:p>
          <a:p>
            <a:pPr algn="l">
              <a:spcBef>
                <a:spcPts val="0"/>
              </a:spcBef>
              <a:spcAft>
                <a:spcPts val="800"/>
              </a:spcAft>
            </a:pPr>
            <a:r>
              <a:rPr sz="1600" b="0" i="0">
                <a:solidFill>
                  <a:srgbClr val="1A1A1A"/>
                </a:solidFill>
                <a:latin typeface="Arial"/>
                <a:ea typeface="Arial"/>
                <a:cs typeface="Arial"/>
              </a:rPr>
              <a:t>• Precision chỉ tính ca hệ thống tự gộp. Ca FLAGGED không đưa vào mẫu số.</a:t>
            </a:r>
          </a:p>
          <a:p>
            <a:pPr algn="l">
              <a:spcBef>
                <a:spcPts val="0"/>
              </a:spcBef>
              <a:spcAft>
                <a:spcPts val="800"/>
              </a:spcAft>
            </a:pPr>
            <a:r>
              <a:rPr sz="1600" b="0" i="0">
                <a:solidFill>
                  <a:srgbClr val="1A1A1A"/>
                </a:solidFill>
                <a:latin typeface="Arial"/>
                <a:ea typeface="Arial"/>
                <a:cs typeface="Arial"/>
              </a:rPr>
              <a:t>• Thời gian là trung bình trên test set, từ lúc nhận chữ đến JSON đúng schema.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D · Kế hoạch và đánh giá</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Demo dự kiến và sản phẩm bàn giao</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20 / 21</a:t>
            </a:r>
          </a:p>
        </p:txBody>
      </p:sp>
      <p:sp>
        <p:nvSpPr>
          <p:cNvPr id="7" name="TextBox 6"/>
          <p:cNvSpPr txBox="1"/>
          <p:nvPr/>
        </p:nvSpPr>
        <p:spPr>
          <a:xfrm>
            <a:off x="438912"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Kịch bản demo khoảng ba phút:</a:t>
            </a:r>
          </a:p>
        </p:txBody>
      </p:sp>
      <p:sp>
        <p:nvSpPr>
          <p:cNvPr id="8" name="TextBox 7"/>
          <p:cNvSpPr txBox="1"/>
          <p:nvPr/>
        </p:nvSpPr>
        <p:spPr>
          <a:xfrm>
            <a:off x="438912"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1. Mở graph đã có sẵn một số node Person.</a:t>
            </a:r>
          </a:p>
          <a:p>
            <a:pPr algn="l">
              <a:spcBef>
                <a:spcPts val="0"/>
              </a:spcBef>
              <a:spcAft>
                <a:spcPts val="800"/>
              </a:spcAft>
            </a:pPr>
            <a:r>
              <a:rPr sz="1600" b="0" i="0">
                <a:solidFill>
                  <a:srgbClr val="1A1A1A"/>
                </a:solidFill>
                <a:latin typeface="Arial"/>
                <a:ea typeface="Arial"/>
                <a:cs typeface="Arial"/>
              </a:rPr>
              <a:t>2. Dán một đoạn chữ mới chưa có trong kho.</a:t>
            </a:r>
          </a:p>
          <a:p>
            <a:pPr algn="l">
              <a:spcBef>
                <a:spcPts val="0"/>
              </a:spcBef>
              <a:spcAft>
                <a:spcPts val="800"/>
              </a:spcAft>
            </a:pPr>
            <a:r>
              <a:rPr sz="1600" b="0" i="0">
                <a:solidFill>
                  <a:srgbClr val="1A1A1A"/>
                </a:solidFill>
                <a:latin typeface="Arial"/>
                <a:ea typeface="Arial"/>
                <a:cs typeface="Arial"/>
              </a:rPr>
              <a:t>3. Trích xuất và xem các bản ghi chủ thể cùng quan hệ, mỗi giá trị kèm đoạn trích.</a:t>
            </a:r>
          </a:p>
          <a:p>
            <a:pPr algn="l">
              <a:spcBef>
                <a:spcPts val="0"/>
              </a:spcBef>
              <a:spcAft>
                <a:spcPts val="800"/>
              </a:spcAft>
            </a:pPr>
            <a:r>
              <a:rPr sz="1600" b="0" i="0">
                <a:solidFill>
                  <a:srgbClr val="1A1A1A"/>
                </a:solidFill>
                <a:latin typeface="Arial"/>
                <a:ea typeface="Arial"/>
                <a:cs typeface="Arial"/>
              </a:rPr>
              <a:t>4. Nạp graph: danh xưng đã có trong master registry đi vào đúng mã cũ, chủ thể mới và quan hệ mới thành nhánh mới.</a:t>
            </a:r>
          </a:p>
          <a:p>
            <a:pPr algn="l">
              <a:spcBef>
                <a:spcPts val="0"/>
              </a:spcBef>
              <a:spcAft>
                <a:spcPts val="800"/>
              </a:spcAft>
            </a:pPr>
            <a:r>
              <a:rPr sz="1600" b="0" i="0">
                <a:solidFill>
                  <a:srgbClr val="1A1A1A"/>
                </a:solidFill>
                <a:latin typeface="Arial"/>
                <a:ea typeface="Arial"/>
                <a:cs typeface="Arial"/>
              </a:rPr>
              <a:t>5. Hiển thị độ khớp F1 theo từ khóa, theo quan hệ, và precision trên test set.</a:t>
            </a:r>
          </a:p>
        </p:txBody>
      </p:sp>
      <p:sp>
        <p:nvSpPr>
          <p:cNvPr id="9" name="TextBox 8"/>
          <p:cNvSpPr txBox="1"/>
          <p:nvPr/>
        </p:nvSpPr>
        <p:spPr>
          <a:xfrm>
            <a:off x="6309360" y="1024128"/>
            <a:ext cx="5440680" cy="310896"/>
          </a:xfrm>
          <a:prstGeom prst="rect">
            <a:avLst/>
          </a:prstGeom>
          <a:noFill/>
        </p:spPr>
        <p:txBody>
          <a:bodyPr wrap="square" lIns="0" rIns="0" tIns="0" bIns="0"/>
          <a:lstStyle/>
          <a:p>
            <a:r>
              <a:rPr sz="1600" b="1" i="0">
                <a:solidFill>
                  <a:srgbClr val="1F3864"/>
                </a:solidFill>
                <a:latin typeface="Arial"/>
                <a:ea typeface="Arial"/>
                <a:cs typeface="Arial"/>
              </a:rPr>
              <a:t>Bàn giao:</a:t>
            </a:r>
          </a:p>
        </p:txBody>
      </p:sp>
      <p:sp>
        <p:nvSpPr>
          <p:cNvPr id="10" name="TextBox 9"/>
          <p:cNvSpPr txBox="1"/>
          <p:nvPr/>
        </p:nvSpPr>
        <p:spPr>
          <a:xfrm>
            <a:off x="6309360" y="1335024"/>
            <a:ext cx="5440680" cy="4901184"/>
          </a:xfrm>
          <a:prstGeom prst="rect">
            <a:avLst/>
          </a:prstGeom>
          <a:noFill/>
        </p:spPr>
        <p:txBody>
          <a:bodyPr wrap="square" lIns="0" rIns="0" tIns="0" bIns="0"/>
          <a:lstStyle/>
          <a:p>
            <a:pPr algn="l">
              <a:spcBef>
                <a:spcPts val="0"/>
              </a:spcBef>
              <a:spcAft>
                <a:spcPts val="800"/>
              </a:spcAft>
            </a:pPr>
            <a:r>
              <a:rPr sz="1600" b="0" i="0">
                <a:solidFill>
                  <a:srgbClr val="1A1A1A"/>
                </a:solidFill>
                <a:latin typeface="Arial"/>
                <a:ea typeface="Arial"/>
                <a:cs typeface="Arial"/>
              </a:rPr>
              <a:t>• Source code chạy bằng Docker, tài liệu API.</a:t>
            </a:r>
          </a:p>
          <a:p>
            <a:pPr algn="l">
              <a:spcBef>
                <a:spcPts val="0"/>
              </a:spcBef>
              <a:spcAft>
                <a:spcPts val="800"/>
              </a:spcAft>
            </a:pPr>
            <a:r>
              <a:rPr sz="1600" b="0" i="0">
                <a:solidFill>
                  <a:srgbClr val="1A1A1A"/>
                </a:solidFill>
                <a:latin typeface="Arial"/>
                <a:ea typeface="Arial"/>
                <a:cs typeface="Arial"/>
              </a:rPr>
              <a:t>• Neo4j đã nạp kho thí điểm, PostgreSQL giữ master registry, nguồn và log.</a:t>
            </a:r>
          </a:p>
          <a:p>
            <a:pPr algn="l">
              <a:spcBef>
                <a:spcPts val="0"/>
              </a:spcBef>
              <a:spcAft>
                <a:spcPts val="800"/>
              </a:spcAft>
            </a:pPr>
            <a:r>
              <a:rPr sz="1600" b="0" i="0">
                <a:solidFill>
                  <a:srgbClr val="1A1A1A"/>
                </a:solidFill>
                <a:latin typeface="Arial"/>
                <a:ea typeface="Arial"/>
                <a:cs typeface="Arial"/>
              </a:rPr>
              <a:t>• Gold set khoảng 150 đến 200 đoạn sử liệu có nhãn, báo cáo số đo.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0" y="146304"/>
            <a:ext cx="5166360" cy="292608"/>
          </a:xfrm>
          <a:prstGeom prst="rect">
            <a:avLst/>
          </a:prstGeom>
          <a:noFill/>
        </p:spPr>
        <p:txBody>
          <a:bodyPr wrap="square" lIns="0" rIns="0" tIns="0" bIns="0"/>
          <a:lstStyle/>
          <a:p>
            <a:pPr algn="r"/>
            <a:r>
              <a:rPr sz="1200" b="0" i="0">
                <a:solidFill>
                  <a:srgbClr val="1F3864"/>
                </a:solidFill>
                <a:latin typeface="Arial"/>
                <a:ea typeface="Arial"/>
                <a:cs typeface="Arial"/>
              </a:rPr>
              <a:t>Phần D · Kế hoạch và đánh giá</a:t>
            </a:r>
          </a:p>
        </p:txBody>
      </p:sp>
      <p:sp>
        <p:nvSpPr>
          <p:cNvPr id="4" name="TextBox 3"/>
          <p:cNvSpPr txBox="1"/>
          <p:nvPr/>
        </p:nvSpPr>
        <p:spPr>
          <a:xfrm>
            <a:off x="438912" y="384048"/>
            <a:ext cx="11311128" cy="566928"/>
          </a:xfrm>
          <a:prstGeom prst="rect">
            <a:avLst/>
          </a:prstGeom>
          <a:noFill/>
        </p:spPr>
        <p:txBody>
          <a:bodyPr wrap="square" lIns="0" rIns="0" tIns="0" bIns="0"/>
          <a:lstStyle/>
          <a:p>
            <a:r>
              <a:rPr sz="2600" b="1" i="0">
                <a:solidFill>
                  <a:srgbClr val="1F3864"/>
                </a:solidFill>
                <a:latin typeface="Arial"/>
                <a:ea typeface="Arial"/>
                <a:cs typeface="Arial"/>
              </a:rPr>
              <a:t>Tóm tắt và hỏi đáp</a:t>
            </a:r>
          </a:p>
        </p:txBody>
      </p:sp>
      <p:sp>
        <p:nvSpPr>
          <p:cNvPr id="5" name="TextBox 4"/>
          <p:cNvSpPr txBox="1"/>
          <p:nvPr/>
        </p:nvSpPr>
        <p:spPr>
          <a:xfrm>
            <a:off x="438912" y="6446520"/>
            <a:ext cx="8412480" cy="256032"/>
          </a:xfrm>
          <a:prstGeom prst="rect">
            <a:avLst/>
          </a:prstGeom>
          <a:noFill/>
        </p:spPr>
        <p:txBody>
          <a:bodyPr wrap="square" lIns="0" rIns="0" tIns="0" bIns="0"/>
          <a:lstStyle/>
          <a:p>
            <a:r>
              <a:rPr sz="1100" b="0" i="0">
                <a:solidFill>
                  <a:srgbClr val="5B6470"/>
                </a:solidFill>
                <a:latin typeface="Arial"/>
                <a:ea typeface="Arial"/>
                <a:cs typeface="Arial"/>
              </a:rPr>
              <a:t>Trần Việt Hoàng · Proposal đồ án</a:t>
            </a:r>
          </a:p>
        </p:txBody>
      </p:sp>
      <p:sp>
        <p:nvSpPr>
          <p:cNvPr id="6" name="TextBox 5"/>
          <p:cNvSpPr txBox="1"/>
          <p:nvPr/>
        </p:nvSpPr>
        <p:spPr>
          <a:xfrm>
            <a:off x="10424160" y="6446520"/>
            <a:ext cx="1325880" cy="256032"/>
          </a:xfrm>
          <a:prstGeom prst="rect">
            <a:avLst/>
          </a:prstGeom>
          <a:noFill/>
        </p:spPr>
        <p:txBody>
          <a:bodyPr wrap="square" lIns="0" rIns="0" tIns="0" bIns="0"/>
          <a:lstStyle/>
          <a:p>
            <a:pPr algn="r"/>
            <a:r>
              <a:rPr sz="1100" b="0" i="0">
                <a:solidFill>
                  <a:srgbClr val="5B6470"/>
                </a:solidFill>
                <a:latin typeface="Arial"/>
                <a:ea typeface="Arial"/>
                <a:cs typeface="Arial"/>
              </a:rPr>
              <a:t>21 / 21</a:t>
            </a:r>
          </a:p>
        </p:txBody>
      </p:sp>
      <p:sp>
        <p:nvSpPr>
          <p:cNvPr id="7" name="TextBox 6"/>
          <p:cNvSpPr txBox="1"/>
          <p:nvPr/>
        </p:nvSpPr>
        <p:spPr>
          <a:xfrm>
            <a:off x="438912" y="1024128"/>
            <a:ext cx="11311128" cy="2144268"/>
          </a:xfrm>
          <a:prstGeom prst="rect">
            <a:avLst/>
          </a:prstGeom>
          <a:noFill/>
        </p:spPr>
        <p:txBody>
          <a:bodyPr wrap="square" lIns="0" rIns="0" tIns="0" bIns="0"/>
          <a:lstStyle/>
          <a:p>
            <a:pPr algn="l">
              <a:spcBef>
                <a:spcPts val="0"/>
              </a:spcBef>
              <a:spcAft>
                <a:spcPts val="800"/>
              </a:spcAft>
            </a:pPr>
            <a:r>
              <a:rPr sz="1800" b="0" i="0">
                <a:solidFill>
                  <a:srgbClr val="1A1A1A"/>
                </a:solidFill>
                <a:latin typeface="Arial"/>
                <a:ea typeface="Arial"/>
                <a:cs typeface="Arial"/>
              </a:rPr>
              <a:t>• Dự án: kho sử liệu có dẫn nguồn, để người học hỏi và kiểm nguồn.</a:t>
            </a:r>
          </a:p>
          <a:p>
            <a:pPr algn="l">
              <a:spcBef>
                <a:spcPts val="0"/>
              </a:spcBef>
              <a:spcAft>
                <a:spcPts val="800"/>
              </a:spcAft>
            </a:pPr>
            <a:r>
              <a:rPr sz="1800" b="0" i="0">
                <a:solidFill>
                  <a:srgbClr val="1A1A1A"/>
                </a:solidFill>
                <a:latin typeface="Arial"/>
                <a:ea typeface="Arial"/>
                <a:cs typeface="Arial"/>
              </a:rPr>
              <a:t>• Đồ án: phần mở đầu, trích xuất văn bản sử thành bản ghi chủ thể và quan hệ, khử trùng lặp danh xưng, nạp vào knowledge graph, có số đo.</a:t>
            </a:r>
          </a:p>
          <a:p>
            <a:pPr algn="l">
              <a:spcBef>
                <a:spcPts val="0"/>
              </a:spcBef>
              <a:spcAft>
                <a:spcPts val="800"/>
              </a:spcAft>
            </a:pPr>
            <a:r>
              <a:rPr sz="1800" b="0" i="0">
                <a:solidFill>
                  <a:srgbClr val="1A1A1A"/>
                </a:solidFill>
                <a:latin typeface="Arial"/>
                <a:ea typeface="Arial"/>
                <a:cs typeface="Arial"/>
              </a:rPr>
              <a:t>• Đóng góp: lưu nhiều đoạn sử liệu trên cùng một chủ thể, và không nhận câu LLM thêm ra khi không có đoạn trích.</a:t>
            </a:r>
          </a:p>
          <a:p>
            <a:pPr algn="l">
              <a:spcBef>
                <a:spcPts val="0"/>
              </a:spcBef>
              <a:spcAft>
                <a:spcPts val="800"/>
              </a:spcAft>
            </a:pPr>
            <a:r>
              <a:rPr sz="1800" b="0" i="0">
                <a:solidFill>
                  <a:srgbClr val="1A1A1A"/>
                </a:solidFill>
                <a:latin typeface="Arial"/>
                <a:ea typeface="Arial"/>
                <a:cs typeface="Arial"/>
              </a:rPr>
              <a:t>• Cảm ơn hội đồng. Hỏi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Proposal — Trần Việt Hoàng</dc:title>
  <dc:subject/>
  <dc:creator>Trần Việt Hoàng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